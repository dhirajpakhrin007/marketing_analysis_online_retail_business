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28BCD5-5756-479C-91D1-5448B0C12D28}" type="doc">
      <dgm:prSet loTypeId="urn:microsoft.com/office/officeart/2016/7/layout/VerticalSolidActionList" loCatId="List" qsTypeId="urn:microsoft.com/office/officeart/2005/8/quickstyle/simple1" qsCatId="simple" csTypeId="urn:microsoft.com/office/officeart/2005/8/colors/accent1_2" csCatId="accent1"/>
      <dgm:spPr/>
      <dgm:t>
        <a:bodyPr/>
        <a:lstStyle/>
        <a:p>
          <a:endParaRPr lang="en-US"/>
        </a:p>
      </dgm:t>
    </dgm:pt>
    <dgm:pt modelId="{760919DD-B662-492F-9270-BD6F73989E4A}">
      <dgm:prSet/>
      <dgm:spPr/>
      <dgm:t>
        <a:bodyPr/>
        <a:lstStyle/>
        <a:p>
          <a:r>
            <a:rPr lang="en-US" b="1"/>
            <a:t>General Conversion Trend:</a:t>
          </a:r>
          <a:endParaRPr lang="en-US"/>
        </a:p>
      </dgm:t>
    </dgm:pt>
    <dgm:pt modelId="{2B06CEBE-98F4-44F9-B8FE-CC828959F16D}" type="parTrans" cxnId="{42683ED0-3ECC-4E3B-AB0A-255E54E60488}">
      <dgm:prSet/>
      <dgm:spPr/>
      <dgm:t>
        <a:bodyPr/>
        <a:lstStyle/>
        <a:p>
          <a:endParaRPr lang="en-US"/>
        </a:p>
      </dgm:t>
    </dgm:pt>
    <dgm:pt modelId="{8037C536-BB9E-4222-A9CA-59CECFFA5924}" type="sibTrans" cxnId="{42683ED0-3ECC-4E3B-AB0A-255E54E60488}">
      <dgm:prSet/>
      <dgm:spPr/>
      <dgm:t>
        <a:bodyPr/>
        <a:lstStyle/>
        <a:p>
          <a:endParaRPr lang="en-US"/>
        </a:p>
      </dgm:t>
    </dgm:pt>
    <dgm:pt modelId="{9B5E3E1A-1EA0-4A5E-9E18-AE6B759AEA04}">
      <dgm:prSet/>
      <dgm:spPr/>
      <dgm:t>
        <a:bodyPr/>
        <a:lstStyle/>
        <a:p>
          <a:r>
            <a:rPr lang="en-US"/>
            <a:t>Throughout the year, conversion rates varied, with higher numbers of products converting successfully in months like February, March, May, and September. This suggests that while some products had strong seasonal peaks, there is potential to improve conversions in lower-performing months through targeted interventions.</a:t>
          </a:r>
        </a:p>
      </dgm:t>
    </dgm:pt>
    <dgm:pt modelId="{F7FE7B8A-D411-4C9F-95BE-ACF12B10D979}" type="parTrans" cxnId="{ABB47E77-62C4-4A42-B79C-DABCF1FAE6AB}">
      <dgm:prSet/>
      <dgm:spPr/>
      <dgm:t>
        <a:bodyPr/>
        <a:lstStyle/>
        <a:p>
          <a:endParaRPr lang="en-US"/>
        </a:p>
      </dgm:t>
    </dgm:pt>
    <dgm:pt modelId="{8E3E976D-4DF8-4689-B459-D9A2E85C6404}" type="sibTrans" cxnId="{ABB47E77-62C4-4A42-B79C-DABCF1FAE6AB}">
      <dgm:prSet/>
      <dgm:spPr/>
      <dgm:t>
        <a:bodyPr/>
        <a:lstStyle/>
        <a:p>
          <a:endParaRPr lang="en-US"/>
        </a:p>
      </dgm:t>
    </dgm:pt>
    <dgm:pt modelId="{98F42E5A-9C90-4095-B00A-085C32442798}">
      <dgm:prSet/>
      <dgm:spPr/>
      <dgm:t>
        <a:bodyPr/>
        <a:lstStyle/>
        <a:p>
          <a:r>
            <a:rPr lang="en-US" b="1"/>
            <a:t>Lowest Conversion Month:</a:t>
          </a:r>
          <a:endParaRPr lang="en-US"/>
        </a:p>
      </dgm:t>
    </dgm:pt>
    <dgm:pt modelId="{4D633733-B106-4469-8F65-09B0064598E4}" type="parTrans" cxnId="{E658CBFA-3E6F-498B-837B-D6C4A5D5E444}">
      <dgm:prSet/>
      <dgm:spPr/>
      <dgm:t>
        <a:bodyPr/>
        <a:lstStyle/>
        <a:p>
          <a:endParaRPr lang="en-US"/>
        </a:p>
      </dgm:t>
    </dgm:pt>
    <dgm:pt modelId="{F4934F8F-EA26-4220-8280-74D6A92D06C7}" type="sibTrans" cxnId="{E658CBFA-3E6F-498B-837B-D6C4A5D5E444}">
      <dgm:prSet/>
      <dgm:spPr/>
      <dgm:t>
        <a:bodyPr/>
        <a:lstStyle/>
        <a:p>
          <a:endParaRPr lang="en-US"/>
        </a:p>
      </dgm:t>
    </dgm:pt>
    <dgm:pt modelId="{C7EF0024-E342-43FE-AE39-618042038EDD}">
      <dgm:prSet/>
      <dgm:spPr/>
      <dgm:t>
        <a:bodyPr/>
        <a:lstStyle/>
        <a:p>
          <a:r>
            <a:rPr lang="en-US"/>
            <a:t>July experienced the lowest overall conversion rate at 2.9%, with no products standing out significantly in terms of conversion. This indicates a potential need to revisit marketing strategies or promotions during this period to boost performance.</a:t>
          </a:r>
        </a:p>
      </dgm:t>
    </dgm:pt>
    <dgm:pt modelId="{BD02C040-83B9-4D10-BDDE-307B24A5BACF}" type="parTrans" cxnId="{5EBD9655-8FF2-4515-B6B6-706AA68484C2}">
      <dgm:prSet/>
      <dgm:spPr/>
      <dgm:t>
        <a:bodyPr/>
        <a:lstStyle/>
        <a:p>
          <a:endParaRPr lang="en-US"/>
        </a:p>
      </dgm:t>
    </dgm:pt>
    <dgm:pt modelId="{7F518CA5-432F-4667-A20C-C1E8827D28F1}" type="sibTrans" cxnId="{5EBD9655-8FF2-4515-B6B6-706AA68484C2}">
      <dgm:prSet/>
      <dgm:spPr/>
      <dgm:t>
        <a:bodyPr/>
        <a:lstStyle/>
        <a:p>
          <a:endParaRPr lang="en-US"/>
        </a:p>
      </dgm:t>
    </dgm:pt>
    <dgm:pt modelId="{3FBDFF22-F119-447B-8660-5477CF3BD501}">
      <dgm:prSet/>
      <dgm:spPr/>
      <dgm:t>
        <a:bodyPr/>
        <a:lstStyle/>
        <a:p>
          <a:r>
            <a:rPr lang="en-US" b="1"/>
            <a:t>Highest Conversion Rates:</a:t>
          </a:r>
          <a:endParaRPr lang="en-US"/>
        </a:p>
      </dgm:t>
    </dgm:pt>
    <dgm:pt modelId="{336DEE88-E812-4E5F-98E0-64F6D5C1B8BD}" type="parTrans" cxnId="{0232482B-100A-472C-B2FC-29328DF22B0C}">
      <dgm:prSet/>
      <dgm:spPr/>
      <dgm:t>
        <a:bodyPr/>
        <a:lstStyle/>
        <a:p>
          <a:endParaRPr lang="en-US"/>
        </a:p>
      </dgm:t>
    </dgm:pt>
    <dgm:pt modelId="{865106A5-A983-41C9-AAF8-A6F24302E3E9}" type="sibTrans" cxnId="{0232482B-100A-472C-B2FC-29328DF22B0C}">
      <dgm:prSet/>
      <dgm:spPr/>
      <dgm:t>
        <a:bodyPr/>
        <a:lstStyle/>
        <a:p>
          <a:endParaRPr lang="en-US"/>
        </a:p>
      </dgm:t>
    </dgm:pt>
    <dgm:pt modelId="{63D7621E-8B56-4638-AD08-41A7E8C98B64}">
      <dgm:prSet/>
      <dgm:spPr/>
      <dgm:t>
        <a:bodyPr/>
        <a:lstStyle/>
        <a:p>
          <a:r>
            <a:rPr lang="en-US"/>
            <a:t>September recorded the highest overall conversion rate at 15.2%, with 100% conversion with Baseball Glove, Hockey Stick, and Ice Skates. This indicates a strong sports month, likely fueled by seasonal demand and effective marketing strategies.</a:t>
          </a:r>
        </a:p>
      </dgm:t>
    </dgm:pt>
    <dgm:pt modelId="{3EADB6B0-27F6-4D10-919E-615407909916}" type="parTrans" cxnId="{5DC0F690-D989-4D2D-AF90-FAB1FEACA0B2}">
      <dgm:prSet/>
      <dgm:spPr/>
      <dgm:t>
        <a:bodyPr/>
        <a:lstStyle/>
        <a:p>
          <a:endParaRPr lang="en-US"/>
        </a:p>
      </dgm:t>
    </dgm:pt>
    <dgm:pt modelId="{0F2C59EC-B61A-4333-A9E5-9BF02B2DEB21}" type="sibTrans" cxnId="{5DC0F690-D989-4D2D-AF90-FAB1FEACA0B2}">
      <dgm:prSet/>
      <dgm:spPr/>
      <dgm:t>
        <a:bodyPr/>
        <a:lstStyle/>
        <a:p>
          <a:endParaRPr lang="en-US"/>
        </a:p>
      </dgm:t>
    </dgm:pt>
    <dgm:pt modelId="{B3D19C36-CAC3-46DF-9406-926B3DB0C358}" type="pres">
      <dgm:prSet presAssocID="{9828BCD5-5756-479C-91D1-5448B0C12D28}" presName="Name0" presStyleCnt="0">
        <dgm:presLayoutVars>
          <dgm:dir/>
          <dgm:animLvl val="lvl"/>
          <dgm:resizeHandles val="exact"/>
        </dgm:presLayoutVars>
      </dgm:prSet>
      <dgm:spPr/>
    </dgm:pt>
    <dgm:pt modelId="{82D526BA-4E53-4765-9486-823303CD4CF6}" type="pres">
      <dgm:prSet presAssocID="{760919DD-B662-492F-9270-BD6F73989E4A}" presName="linNode" presStyleCnt="0"/>
      <dgm:spPr/>
    </dgm:pt>
    <dgm:pt modelId="{9DE1B5FB-18D3-43D2-9844-24526E08FFCB}" type="pres">
      <dgm:prSet presAssocID="{760919DD-B662-492F-9270-BD6F73989E4A}" presName="parentText" presStyleLbl="alignNode1" presStyleIdx="0" presStyleCnt="3">
        <dgm:presLayoutVars>
          <dgm:chMax val="1"/>
          <dgm:bulletEnabled/>
        </dgm:presLayoutVars>
      </dgm:prSet>
      <dgm:spPr/>
    </dgm:pt>
    <dgm:pt modelId="{10F496A8-47F9-4142-AC7F-379B0BD23378}" type="pres">
      <dgm:prSet presAssocID="{760919DD-B662-492F-9270-BD6F73989E4A}" presName="descendantText" presStyleLbl="alignAccFollowNode1" presStyleIdx="0" presStyleCnt="3">
        <dgm:presLayoutVars>
          <dgm:bulletEnabled/>
        </dgm:presLayoutVars>
      </dgm:prSet>
      <dgm:spPr/>
    </dgm:pt>
    <dgm:pt modelId="{CFAE1F76-22E8-4D6F-B901-7943F535DC91}" type="pres">
      <dgm:prSet presAssocID="{8037C536-BB9E-4222-A9CA-59CECFFA5924}" presName="sp" presStyleCnt="0"/>
      <dgm:spPr/>
    </dgm:pt>
    <dgm:pt modelId="{E9370C78-099D-4E9B-B0AF-11A79D5D4DE8}" type="pres">
      <dgm:prSet presAssocID="{98F42E5A-9C90-4095-B00A-085C32442798}" presName="linNode" presStyleCnt="0"/>
      <dgm:spPr/>
    </dgm:pt>
    <dgm:pt modelId="{D049128C-C7E1-4B70-BBCB-4FA7F56CF8A4}" type="pres">
      <dgm:prSet presAssocID="{98F42E5A-9C90-4095-B00A-085C32442798}" presName="parentText" presStyleLbl="alignNode1" presStyleIdx="1" presStyleCnt="3">
        <dgm:presLayoutVars>
          <dgm:chMax val="1"/>
          <dgm:bulletEnabled/>
        </dgm:presLayoutVars>
      </dgm:prSet>
      <dgm:spPr/>
    </dgm:pt>
    <dgm:pt modelId="{9B8D106F-71BB-4496-9991-EA427706EC81}" type="pres">
      <dgm:prSet presAssocID="{98F42E5A-9C90-4095-B00A-085C32442798}" presName="descendantText" presStyleLbl="alignAccFollowNode1" presStyleIdx="1" presStyleCnt="3">
        <dgm:presLayoutVars>
          <dgm:bulletEnabled/>
        </dgm:presLayoutVars>
      </dgm:prSet>
      <dgm:spPr/>
    </dgm:pt>
    <dgm:pt modelId="{DB6115DE-FB38-4701-90C7-291C5551631A}" type="pres">
      <dgm:prSet presAssocID="{F4934F8F-EA26-4220-8280-74D6A92D06C7}" presName="sp" presStyleCnt="0"/>
      <dgm:spPr/>
    </dgm:pt>
    <dgm:pt modelId="{E846D322-AF5C-4BD2-86B7-E52D3FAFB95D}" type="pres">
      <dgm:prSet presAssocID="{3FBDFF22-F119-447B-8660-5477CF3BD501}" presName="linNode" presStyleCnt="0"/>
      <dgm:spPr/>
    </dgm:pt>
    <dgm:pt modelId="{565A3BCD-2216-47E2-B8CB-0E53F6E4A05E}" type="pres">
      <dgm:prSet presAssocID="{3FBDFF22-F119-447B-8660-5477CF3BD501}" presName="parentText" presStyleLbl="alignNode1" presStyleIdx="2" presStyleCnt="3">
        <dgm:presLayoutVars>
          <dgm:chMax val="1"/>
          <dgm:bulletEnabled/>
        </dgm:presLayoutVars>
      </dgm:prSet>
      <dgm:spPr/>
    </dgm:pt>
    <dgm:pt modelId="{2EF05C41-0225-4CEE-B826-875662704791}" type="pres">
      <dgm:prSet presAssocID="{3FBDFF22-F119-447B-8660-5477CF3BD501}" presName="descendantText" presStyleLbl="alignAccFollowNode1" presStyleIdx="2" presStyleCnt="3">
        <dgm:presLayoutVars>
          <dgm:bulletEnabled/>
        </dgm:presLayoutVars>
      </dgm:prSet>
      <dgm:spPr/>
    </dgm:pt>
  </dgm:ptLst>
  <dgm:cxnLst>
    <dgm:cxn modelId="{0232482B-100A-472C-B2FC-29328DF22B0C}" srcId="{9828BCD5-5756-479C-91D1-5448B0C12D28}" destId="{3FBDFF22-F119-447B-8660-5477CF3BD501}" srcOrd="2" destOrd="0" parTransId="{336DEE88-E812-4E5F-98E0-64F6D5C1B8BD}" sibTransId="{865106A5-A983-41C9-AAF8-A6F24302E3E9}"/>
    <dgm:cxn modelId="{9F1C575D-0F0D-4F54-BA07-64589D0CCFF3}" type="presOf" srcId="{9B5E3E1A-1EA0-4A5E-9E18-AE6B759AEA04}" destId="{10F496A8-47F9-4142-AC7F-379B0BD23378}" srcOrd="0" destOrd="0" presId="urn:microsoft.com/office/officeart/2016/7/layout/VerticalSolidActionList"/>
    <dgm:cxn modelId="{00F6EF41-67CB-4A04-85B6-E8212D03670E}" type="presOf" srcId="{9828BCD5-5756-479C-91D1-5448B0C12D28}" destId="{B3D19C36-CAC3-46DF-9406-926B3DB0C358}" srcOrd="0" destOrd="0" presId="urn:microsoft.com/office/officeart/2016/7/layout/VerticalSolidActionList"/>
    <dgm:cxn modelId="{5EBD9655-8FF2-4515-B6B6-706AA68484C2}" srcId="{98F42E5A-9C90-4095-B00A-085C32442798}" destId="{C7EF0024-E342-43FE-AE39-618042038EDD}" srcOrd="0" destOrd="0" parTransId="{BD02C040-83B9-4D10-BDDE-307B24A5BACF}" sibTransId="{7F518CA5-432F-4667-A20C-C1E8827D28F1}"/>
    <dgm:cxn modelId="{ABB47E77-62C4-4A42-B79C-DABCF1FAE6AB}" srcId="{760919DD-B662-492F-9270-BD6F73989E4A}" destId="{9B5E3E1A-1EA0-4A5E-9E18-AE6B759AEA04}" srcOrd="0" destOrd="0" parTransId="{F7FE7B8A-D411-4C9F-95BE-ACF12B10D979}" sibTransId="{8E3E976D-4DF8-4689-B459-D9A2E85C6404}"/>
    <dgm:cxn modelId="{5DC0F690-D989-4D2D-AF90-FAB1FEACA0B2}" srcId="{3FBDFF22-F119-447B-8660-5477CF3BD501}" destId="{63D7621E-8B56-4638-AD08-41A7E8C98B64}" srcOrd="0" destOrd="0" parTransId="{3EADB6B0-27F6-4D10-919E-615407909916}" sibTransId="{0F2C59EC-B61A-4333-A9E5-9BF02B2DEB21}"/>
    <dgm:cxn modelId="{F03DFF90-8EF0-4A3A-8803-F7EA94802E38}" type="presOf" srcId="{98F42E5A-9C90-4095-B00A-085C32442798}" destId="{D049128C-C7E1-4B70-BBCB-4FA7F56CF8A4}" srcOrd="0" destOrd="0" presId="urn:microsoft.com/office/officeart/2016/7/layout/VerticalSolidActionList"/>
    <dgm:cxn modelId="{750EAAC5-E8E5-491A-A9E9-42552731F4F3}" type="presOf" srcId="{760919DD-B662-492F-9270-BD6F73989E4A}" destId="{9DE1B5FB-18D3-43D2-9844-24526E08FFCB}" srcOrd="0" destOrd="0" presId="urn:microsoft.com/office/officeart/2016/7/layout/VerticalSolidActionList"/>
    <dgm:cxn modelId="{42683ED0-3ECC-4E3B-AB0A-255E54E60488}" srcId="{9828BCD5-5756-479C-91D1-5448B0C12D28}" destId="{760919DD-B662-492F-9270-BD6F73989E4A}" srcOrd="0" destOrd="0" parTransId="{2B06CEBE-98F4-44F9-B8FE-CC828959F16D}" sibTransId="{8037C536-BB9E-4222-A9CA-59CECFFA5924}"/>
    <dgm:cxn modelId="{CE3FF7D2-39B9-46AD-B5BF-50F2C15F0459}" type="presOf" srcId="{C7EF0024-E342-43FE-AE39-618042038EDD}" destId="{9B8D106F-71BB-4496-9991-EA427706EC81}" srcOrd="0" destOrd="0" presId="urn:microsoft.com/office/officeart/2016/7/layout/VerticalSolidActionList"/>
    <dgm:cxn modelId="{499153DB-0400-463C-8A85-358890DB2C19}" type="presOf" srcId="{3FBDFF22-F119-447B-8660-5477CF3BD501}" destId="{565A3BCD-2216-47E2-B8CB-0E53F6E4A05E}" srcOrd="0" destOrd="0" presId="urn:microsoft.com/office/officeart/2016/7/layout/VerticalSolidActionList"/>
    <dgm:cxn modelId="{E658CBFA-3E6F-498B-837B-D6C4A5D5E444}" srcId="{9828BCD5-5756-479C-91D1-5448B0C12D28}" destId="{98F42E5A-9C90-4095-B00A-085C32442798}" srcOrd="1" destOrd="0" parTransId="{4D633733-B106-4469-8F65-09B0064598E4}" sibTransId="{F4934F8F-EA26-4220-8280-74D6A92D06C7}"/>
    <dgm:cxn modelId="{5B6886FE-9EBF-4C79-AA1A-B12A02C97AE9}" type="presOf" srcId="{63D7621E-8B56-4638-AD08-41A7E8C98B64}" destId="{2EF05C41-0225-4CEE-B826-875662704791}" srcOrd="0" destOrd="0" presId="urn:microsoft.com/office/officeart/2016/7/layout/VerticalSolidActionList"/>
    <dgm:cxn modelId="{3BFA1F53-5D41-460C-A1B4-06280FD70358}" type="presParOf" srcId="{B3D19C36-CAC3-46DF-9406-926B3DB0C358}" destId="{82D526BA-4E53-4765-9486-823303CD4CF6}" srcOrd="0" destOrd="0" presId="urn:microsoft.com/office/officeart/2016/7/layout/VerticalSolidActionList"/>
    <dgm:cxn modelId="{8F17986B-B200-42C4-9550-7B127AF97E3B}" type="presParOf" srcId="{82D526BA-4E53-4765-9486-823303CD4CF6}" destId="{9DE1B5FB-18D3-43D2-9844-24526E08FFCB}" srcOrd="0" destOrd="0" presId="urn:microsoft.com/office/officeart/2016/7/layout/VerticalSolidActionList"/>
    <dgm:cxn modelId="{A09E921B-33A6-42E2-ABB9-AA7CF06B7804}" type="presParOf" srcId="{82D526BA-4E53-4765-9486-823303CD4CF6}" destId="{10F496A8-47F9-4142-AC7F-379B0BD23378}" srcOrd="1" destOrd="0" presId="urn:microsoft.com/office/officeart/2016/7/layout/VerticalSolidActionList"/>
    <dgm:cxn modelId="{A8E25F64-D140-4F6D-A374-A277EC7FCD8C}" type="presParOf" srcId="{B3D19C36-CAC3-46DF-9406-926B3DB0C358}" destId="{CFAE1F76-22E8-4D6F-B901-7943F535DC91}" srcOrd="1" destOrd="0" presId="urn:microsoft.com/office/officeart/2016/7/layout/VerticalSolidActionList"/>
    <dgm:cxn modelId="{5AB09160-E629-4E6E-8DBB-5C0D1E9AEE32}" type="presParOf" srcId="{B3D19C36-CAC3-46DF-9406-926B3DB0C358}" destId="{E9370C78-099D-4E9B-B0AF-11A79D5D4DE8}" srcOrd="2" destOrd="0" presId="urn:microsoft.com/office/officeart/2016/7/layout/VerticalSolidActionList"/>
    <dgm:cxn modelId="{999E76D6-97B3-4896-8396-26199D6994D0}" type="presParOf" srcId="{E9370C78-099D-4E9B-B0AF-11A79D5D4DE8}" destId="{D049128C-C7E1-4B70-BBCB-4FA7F56CF8A4}" srcOrd="0" destOrd="0" presId="urn:microsoft.com/office/officeart/2016/7/layout/VerticalSolidActionList"/>
    <dgm:cxn modelId="{78C28A25-2D59-4791-92AF-C2D0DD6B81FE}" type="presParOf" srcId="{E9370C78-099D-4E9B-B0AF-11A79D5D4DE8}" destId="{9B8D106F-71BB-4496-9991-EA427706EC81}" srcOrd="1" destOrd="0" presId="urn:microsoft.com/office/officeart/2016/7/layout/VerticalSolidActionList"/>
    <dgm:cxn modelId="{F712F9E9-7112-4B73-8D6A-8FF806D82E7F}" type="presParOf" srcId="{B3D19C36-CAC3-46DF-9406-926B3DB0C358}" destId="{DB6115DE-FB38-4701-90C7-291C5551631A}" srcOrd="3" destOrd="0" presId="urn:microsoft.com/office/officeart/2016/7/layout/VerticalSolidActionList"/>
    <dgm:cxn modelId="{45A496AF-4D06-457A-8945-C01DDE338C2B}" type="presParOf" srcId="{B3D19C36-CAC3-46DF-9406-926B3DB0C358}" destId="{E846D322-AF5C-4BD2-86B7-E52D3FAFB95D}" srcOrd="4" destOrd="0" presId="urn:microsoft.com/office/officeart/2016/7/layout/VerticalSolidActionList"/>
    <dgm:cxn modelId="{5C5A9BC1-EDC9-4D19-8949-1340359604FE}" type="presParOf" srcId="{E846D322-AF5C-4BD2-86B7-E52D3FAFB95D}" destId="{565A3BCD-2216-47E2-B8CB-0E53F6E4A05E}" srcOrd="0" destOrd="0" presId="urn:microsoft.com/office/officeart/2016/7/layout/VerticalSolidActionList"/>
    <dgm:cxn modelId="{C05EB72B-1A8F-44B0-8275-38CF48CC9276}" type="presParOf" srcId="{E846D322-AF5C-4BD2-86B7-E52D3FAFB95D}" destId="{2EF05C41-0225-4CEE-B826-875662704791}" srcOrd="1" destOrd="0" presId="urn:microsoft.com/office/officeart/2016/7/layout/VerticalSolid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F496A8-47F9-4142-AC7F-379B0BD23378}">
      <dsp:nvSpPr>
        <dsp:cNvPr id="0" name=""/>
        <dsp:cNvSpPr/>
      </dsp:nvSpPr>
      <dsp:spPr>
        <a:xfrm>
          <a:off x="1066297" y="1346"/>
          <a:ext cx="4265190" cy="1379896"/>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2757" tIns="350494" rIns="82757" bIns="350494" numCol="1" spcCol="1270" anchor="ctr" anchorCtr="0">
          <a:noAutofit/>
        </a:bodyPr>
        <a:lstStyle/>
        <a:p>
          <a:pPr marL="0" lvl="0" indent="0" algn="l" defTabSz="488950">
            <a:lnSpc>
              <a:spcPct val="90000"/>
            </a:lnSpc>
            <a:spcBef>
              <a:spcPct val="0"/>
            </a:spcBef>
            <a:spcAft>
              <a:spcPct val="35000"/>
            </a:spcAft>
            <a:buNone/>
          </a:pPr>
          <a:r>
            <a:rPr lang="en-US" sz="1100" kern="1200"/>
            <a:t>Throughout the year, conversion rates varied, with higher numbers of products converting successfully in months like February, March, May, and September. This suggests that while some products had strong seasonal peaks, there is potential to improve conversions in lower-performing months through targeted interventions.</a:t>
          </a:r>
        </a:p>
      </dsp:txBody>
      <dsp:txXfrm>
        <a:off x="1066297" y="1346"/>
        <a:ext cx="4265190" cy="1379896"/>
      </dsp:txXfrm>
    </dsp:sp>
    <dsp:sp modelId="{9DE1B5FB-18D3-43D2-9844-24526E08FFCB}">
      <dsp:nvSpPr>
        <dsp:cNvPr id="0" name=""/>
        <dsp:cNvSpPr/>
      </dsp:nvSpPr>
      <dsp:spPr>
        <a:xfrm>
          <a:off x="0" y="1346"/>
          <a:ext cx="1066297" cy="1379896"/>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425" tIns="136303" rIns="56425" bIns="136303" numCol="1" spcCol="1270" anchor="ctr" anchorCtr="0">
          <a:noAutofit/>
        </a:bodyPr>
        <a:lstStyle/>
        <a:p>
          <a:pPr marL="0" lvl="0" indent="0" algn="ctr" defTabSz="622300">
            <a:lnSpc>
              <a:spcPct val="90000"/>
            </a:lnSpc>
            <a:spcBef>
              <a:spcPct val="0"/>
            </a:spcBef>
            <a:spcAft>
              <a:spcPct val="35000"/>
            </a:spcAft>
            <a:buNone/>
          </a:pPr>
          <a:r>
            <a:rPr lang="en-US" sz="1400" b="1" kern="1200"/>
            <a:t>General Conversion Trend:</a:t>
          </a:r>
          <a:endParaRPr lang="en-US" sz="1400" kern="1200"/>
        </a:p>
      </dsp:txBody>
      <dsp:txXfrm>
        <a:off x="0" y="1346"/>
        <a:ext cx="1066297" cy="1379896"/>
      </dsp:txXfrm>
    </dsp:sp>
    <dsp:sp modelId="{9B8D106F-71BB-4496-9991-EA427706EC81}">
      <dsp:nvSpPr>
        <dsp:cNvPr id="0" name=""/>
        <dsp:cNvSpPr/>
      </dsp:nvSpPr>
      <dsp:spPr>
        <a:xfrm>
          <a:off x="1066297" y="1464036"/>
          <a:ext cx="4265190" cy="1379896"/>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2757" tIns="350494" rIns="82757" bIns="350494" numCol="1" spcCol="1270" anchor="ctr" anchorCtr="0">
          <a:noAutofit/>
        </a:bodyPr>
        <a:lstStyle/>
        <a:p>
          <a:pPr marL="0" lvl="0" indent="0" algn="l" defTabSz="488950">
            <a:lnSpc>
              <a:spcPct val="90000"/>
            </a:lnSpc>
            <a:spcBef>
              <a:spcPct val="0"/>
            </a:spcBef>
            <a:spcAft>
              <a:spcPct val="35000"/>
            </a:spcAft>
            <a:buNone/>
          </a:pPr>
          <a:r>
            <a:rPr lang="en-US" sz="1100" kern="1200"/>
            <a:t>July experienced the lowest overall conversion rate at 2.9%, with no products standing out significantly in terms of conversion. This indicates a potential need to revisit marketing strategies or promotions during this period to boost performance.</a:t>
          </a:r>
        </a:p>
      </dsp:txBody>
      <dsp:txXfrm>
        <a:off x="1066297" y="1464036"/>
        <a:ext cx="4265190" cy="1379896"/>
      </dsp:txXfrm>
    </dsp:sp>
    <dsp:sp modelId="{D049128C-C7E1-4B70-BBCB-4FA7F56CF8A4}">
      <dsp:nvSpPr>
        <dsp:cNvPr id="0" name=""/>
        <dsp:cNvSpPr/>
      </dsp:nvSpPr>
      <dsp:spPr>
        <a:xfrm>
          <a:off x="0" y="1464036"/>
          <a:ext cx="1066297" cy="1379896"/>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425" tIns="136303" rIns="56425" bIns="136303" numCol="1" spcCol="1270" anchor="ctr" anchorCtr="0">
          <a:noAutofit/>
        </a:bodyPr>
        <a:lstStyle/>
        <a:p>
          <a:pPr marL="0" lvl="0" indent="0" algn="ctr" defTabSz="622300">
            <a:lnSpc>
              <a:spcPct val="90000"/>
            </a:lnSpc>
            <a:spcBef>
              <a:spcPct val="0"/>
            </a:spcBef>
            <a:spcAft>
              <a:spcPct val="35000"/>
            </a:spcAft>
            <a:buNone/>
          </a:pPr>
          <a:r>
            <a:rPr lang="en-US" sz="1400" b="1" kern="1200"/>
            <a:t>Lowest Conversion Month:</a:t>
          </a:r>
          <a:endParaRPr lang="en-US" sz="1400" kern="1200"/>
        </a:p>
      </dsp:txBody>
      <dsp:txXfrm>
        <a:off x="0" y="1464036"/>
        <a:ext cx="1066297" cy="1379896"/>
      </dsp:txXfrm>
    </dsp:sp>
    <dsp:sp modelId="{2EF05C41-0225-4CEE-B826-875662704791}">
      <dsp:nvSpPr>
        <dsp:cNvPr id="0" name=""/>
        <dsp:cNvSpPr/>
      </dsp:nvSpPr>
      <dsp:spPr>
        <a:xfrm>
          <a:off x="1066297" y="2926727"/>
          <a:ext cx="4265190" cy="1379896"/>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2757" tIns="350494" rIns="82757" bIns="350494" numCol="1" spcCol="1270" anchor="ctr" anchorCtr="0">
          <a:noAutofit/>
        </a:bodyPr>
        <a:lstStyle/>
        <a:p>
          <a:pPr marL="0" lvl="0" indent="0" algn="l" defTabSz="488950">
            <a:lnSpc>
              <a:spcPct val="90000"/>
            </a:lnSpc>
            <a:spcBef>
              <a:spcPct val="0"/>
            </a:spcBef>
            <a:spcAft>
              <a:spcPct val="35000"/>
            </a:spcAft>
            <a:buNone/>
          </a:pPr>
          <a:r>
            <a:rPr lang="en-US" sz="1100" kern="1200"/>
            <a:t>September recorded the highest overall conversion rate at 15.2%, with 100% conversion with Baseball Glove, Hockey Stick, and Ice Skates. This indicates a strong sports month, likely fueled by seasonal demand and effective marketing strategies.</a:t>
          </a:r>
        </a:p>
      </dsp:txBody>
      <dsp:txXfrm>
        <a:off x="1066297" y="2926727"/>
        <a:ext cx="4265190" cy="1379896"/>
      </dsp:txXfrm>
    </dsp:sp>
    <dsp:sp modelId="{565A3BCD-2216-47E2-B8CB-0E53F6E4A05E}">
      <dsp:nvSpPr>
        <dsp:cNvPr id="0" name=""/>
        <dsp:cNvSpPr/>
      </dsp:nvSpPr>
      <dsp:spPr>
        <a:xfrm>
          <a:off x="0" y="2926727"/>
          <a:ext cx="1066297" cy="1379896"/>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425" tIns="136303" rIns="56425" bIns="136303" numCol="1" spcCol="1270" anchor="ctr" anchorCtr="0">
          <a:noAutofit/>
        </a:bodyPr>
        <a:lstStyle/>
        <a:p>
          <a:pPr marL="0" lvl="0" indent="0" algn="ctr" defTabSz="622300">
            <a:lnSpc>
              <a:spcPct val="90000"/>
            </a:lnSpc>
            <a:spcBef>
              <a:spcPct val="0"/>
            </a:spcBef>
            <a:spcAft>
              <a:spcPct val="35000"/>
            </a:spcAft>
            <a:buNone/>
          </a:pPr>
          <a:r>
            <a:rPr lang="en-US" sz="1400" b="1" kern="1200"/>
            <a:t>Highest Conversion Rates:</a:t>
          </a:r>
          <a:endParaRPr lang="en-US" sz="1400" kern="1200"/>
        </a:p>
      </dsp:txBody>
      <dsp:txXfrm>
        <a:off x="0" y="2926727"/>
        <a:ext cx="1066297" cy="1379896"/>
      </dsp:txXfrm>
    </dsp:sp>
  </dsp:spTree>
</dsp:drawing>
</file>

<file path=ppt/diagrams/layout1.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C432D-5CB7-A802-2DF0-D018568636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BB4E26B6-B682-A269-4474-B63FBB09D9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57B390A1-394B-21C0-9708-91C9605BC21A}"/>
              </a:ext>
            </a:extLst>
          </p:cNvPr>
          <p:cNvSpPr>
            <a:spLocks noGrp="1"/>
          </p:cNvSpPr>
          <p:nvPr>
            <p:ph type="dt" sz="half" idx="10"/>
          </p:nvPr>
        </p:nvSpPr>
        <p:spPr/>
        <p:txBody>
          <a:bodyPr/>
          <a:lstStyle/>
          <a:p>
            <a:fld id="{36FA43D4-B60C-4006-9A0B-ABB2FD1B0C66}" type="datetimeFigureOut">
              <a:rPr lang="en-AU" smtClean="0"/>
              <a:t>22/02/2026</a:t>
            </a:fld>
            <a:endParaRPr lang="en-AU"/>
          </a:p>
        </p:txBody>
      </p:sp>
      <p:sp>
        <p:nvSpPr>
          <p:cNvPr id="5" name="Footer Placeholder 4">
            <a:extLst>
              <a:ext uri="{FF2B5EF4-FFF2-40B4-BE49-F238E27FC236}">
                <a16:creationId xmlns:a16="http://schemas.microsoft.com/office/drawing/2014/main" id="{1FE3D3B9-7943-3CF6-ADDC-0F22F6588F3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EE7BE98-8960-46C9-3926-5F80D1E2165F}"/>
              </a:ext>
            </a:extLst>
          </p:cNvPr>
          <p:cNvSpPr>
            <a:spLocks noGrp="1"/>
          </p:cNvSpPr>
          <p:nvPr>
            <p:ph type="sldNum" sz="quarter" idx="12"/>
          </p:nvPr>
        </p:nvSpPr>
        <p:spPr/>
        <p:txBody>
          <a:bodyPr/>
          <a:lstStyle/>
          <a:p>
            <a:fld id="{40850ABD-EBB7-44F2-A449-951C8F3D5DA3}" type="slidenum">
              <a:rPr lang="en-AU" smtClean="0"/>
              <a:t>‹#›</a:t>
            </a:fld>
            <a:endParaRPr lang="en-AU"/>
          </a:p>
        </p:txBody>
      </p:sp>
    </p:spTree>
    <p:extLst>
      <p:ext uri="{BB962C8B-B14F-4D97-AF65-F5344CB8AC3E}">
        <p14:creationId xmlns:p14="http://schemas.microsoft.com/office/powerpoint/2010/main" val="1667292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9F03E-A9A9-4B4B-D857-ADA487B2BBD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A3FB3A66-616F-ED6E-1865-1D90AE62BB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A4C9478-AAAB-2D62-6F3D-F6A22029C5FC}"/>
              </a:ext>
            </a:extLst>
          </p:cNvPr>
          <p:cNvSpPr>
            <a:spLocks noGrp="1"/>
          </p:cNvSpPr>
          <p:nvPr>
            <p:ph type="dt" sz="half" idx="10"/>
          </p:nvPr>
        </p:nvSpPr>
        <p:spPr/>
        <p:txBody>
          <a:bodyPr/>
          <a:lstStyle/>
          <a:p>
            <a:fld id="{36FA43D4-B60C-4006-9A0B-ABB2FD1B0C66}" type="datetimeFigureOut">
              <a:rPr lang="en-AU" smtClean="0"/>
              <a:t>22/02/2026</a:t>
            </a:fld>
            <a:endParaRPr lang="en-AU"/>
          </a:p>
        </p:txBody>
      </p:sp>
      <p:sp>
        <p:nvSpPr>
          <p:cNvPr id="5" name="Footer Placeholder 4">
            <a:extLst>
              <a:ext uri="{FF2B5EF4-FFF2-40B4-BE49-F238E27FC236}">
                <a16:creationId xmlns:a16="http://schemas.microsoft.com/office/drawing/2014/main" id="{162AB81E-984B-93B8-85EC-D97D253E836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7390160-3E7F-7995-11B9-4FFA78FC617E}"/>
              </a:ext>
            </a:extLst>
          </p:cNvPr>
          <p:cNvSpPr>
            <a:spLocks noGrp="1"/>
          </p:cNvSpPr>
          <p:nvPr>
            <p:ph type="sldNum" sz="quarter" idx="12"/>
          </p:nvPr>
        </p:nvSpPr>
        <p:spPr/>
        <p:txBody>
          <a:bodyPr/>
          <a:lstStyle/>
          <a:p>
            <a:fld id="{40850ABD-EBB7-44F2-A449-951C8F3D5DA3}" type="slidenum">
              <a:rPr lang="en-AU" smtClean="0"/>
              <a:t>‹#›</a:t>
            </a:fld>
            <a:endParaRPr lang="en-AU"/>
          </a:p>
        </p:txBody>
      </p:sp>
    </p:spTree>
    <p:extLst>
      <p:ext uri="{BB962C8B-B14F-4D97-AF65-F5344CB8AC3E}">
        <p14:creationId xmlns:p14="http://schemas.microsoft.com/office/powerpoint/2010/main" val="2935043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15CC3-3284-DD2D-6C82-A96CB07FA2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0A9BD641-BD25-905B-C49F-318A9A1C43A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BBA0E8-F06D-C298-33F3-6C5D5A8A08CB}"/>
              </a:ext>
            </a:extLst>
          </p:cNvPr>
          <p:cNvSpPr>
            <a:spLocks noGrp="1"/>
          </p:cNvSpPr>
          <p:nvPr>
            <p:ph type="dt" sz="half" idx="10"/>
          </p:nvPr>
        </p:nvSpPr>
        <p:spPr/>
        <p:txBody>
          <a:bodyPr/>
          <a:lstStyle/>
          <a:p>
            <a:fld id="{36FA43D4-B60C-4006-9A0B-ABB2FD1B0C66}" type="datetimeFigureOut">
              <a:rPr lang="en-AU" smtClean="0"/>
              <a:t>22/02/2026</a:t>
            </a:fld>
            <a:endParaRPr lang="en-AU"/>
          </a:p>
        </p:txBody>
      </p:sp>
      <p:sp>
        <p:nvSpPr>
          <p:cNvPr id="5" name="Footer Placeholder 4">
            <a:extLst>
              <a:ext uri="{FF2B5EF4-FFF2-40B4-BE49-F238E27FC236}">
                <a16:creationId xmlns:a16="http://schemas.microsoft.com/office/drawing/2014/main" id="{0A035E7E-EA70-3AE5-72CE-543C7A4F617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D2D49D4-E5F5-D4F0-1BE4-F39C1D39FB65}"/>
              </a:ext>
            </a:extLst>
          </p:cNvPr>
          <p:cNvSpPr>
            <a:spLocks noGrp="1"/>
          </p:cNvSpPr>
          <p:nvPr>
            <p:ph type="sldNum" sz="quarter" idx="12"/>
          </p:nvPr>
        </p:nvSpPr>
        <p:spPr/>
        <p:txBody>
          <a:bodyPr/>
          <a:lstStyle/>
          <a:p>
            <a:fld id="{40850ABD-EBB7-44F2-A449-951C8F3D5DA3}" type="slidenum">
              <a:rPr lang="en-AU" smtClean="0"/>
              <a:t>‹#›</a:t>
            </a:fld>
            <a:endParaRPr lang="en-AU"/>
          </a:p>
        </p:txBody>
      </p:sp>
    </p:spTree>
    <p:extLst>
      <p:ext uri="{BB962C8B-B14F-4D97-AF65-F5344CB8AC3E}">
        <p14:creationId xmlns:p14="http://schemas.microsoft.com/office/powerpoint/2010/main" val="11775694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F090F-B934-1B49-5C4F-919BA6C1CFFE}"/>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B1EC4C1F-40EB-52B9-0E5D-417DCDDDAA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75E10FF3-C9DF-F6BC-7EF1-628FF92BB5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1EF350D5-A1E6-E247-4765-71794E287E72}"/>
              </a:ext>
            </a:extLst>
          </p:cNvPr>
          <p:cNvSpPr>
            <a:spLocks noGrp="1"/>
          </p:cNvSpPr>
          <p:nvPr>
            <p:ph type="dt" sz="half" idx="10"/>
          </p:nvPr>
        </p:nvSpPr>
        <p:spPr/>
        <p:txBody>
          <a:bodyPr/>
          <a:lstStyle/>
          <a:p>
            <a:fld id="{36FA43D4-B60C-4006-9A0B-ABB2FD1B0C66}" type="datetimeFigureOut">
              <a:rPr lang="en-AU" smtClean="0"/>
              <a:t>22/02/2026</a:t>
            </a:fld>
            <a:endParaRPr lang="en-AU"/>
          </a:p>
        </p:txBody>
      </p:sp>
      <p:sp>
        <p:nvSpPr>
          <p:cNvPr id="6" name="Footer Placeholder 5">
            <a:extLst>
              <a:ext uri="{FF2B5EF4-FFF2-40B4-BE49-F238E27FC236}">
                <a16:creationId xmlns:a16="http://schemas.microsoft.com/office/drawing/2014/main" id="{7984A340-DC71-5C62-13DD-7DFEFF90C79B}"/>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E394AAC-7975-1530-EA68-15DB0DCA5F0F}"/>
              </a:ext>
            </a:extLst>
          </p:cNvPr>
          <p:cNvSpPr>
            <a:spLocks noGrp="1"/>
          </p:cNvSpPr>
          <p:nvPr>
            <p:ph type="sldNum" sz="quarter" idx="12"/>
          </p:nvPr>
        </p:nvSpPr>
        <p:spPr/>
        <p:txBody>
          <a:bodyPr/>
          <a:lstStyle/>
          <a:p>
            <a:fld id="{40850ABD-EBB7-44F2-A449-951C8F3D5DA3}" type="slidenum">
              <a:rPr lang="en-AU" smtClean="0"/>
              <a:t>‹#›</a:t>
            </a:fld>
            <a:endParaRPr lang="en-AU"/>
          </a:p>
        </p:txBody>
      </p:sp>
    </p:spTree>
    <p:extLst>
      <p:ext uri="{BB962C8B-B14F-4D97-AF65-F5344CB8AC3E}">
        <p14:creationId xmlns:p14="http://schemas.microsoft.com/office/powerpoint/2010/main" val="42497363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F3A14-F987-A463-490C-388BDAA38386}"/>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FD2F8942-377E-D68C-4CD4-64D92EE85E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35B812E-9959-1E66-3BE1-D8C8EC9474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7504F23E-AD35-D845-24CB-B2BA4418E8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B1AEF9A-C972-8121-4419-59D6350463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21F70C88-8F6E-65F7-42B8-9238F562D099}"/>
              </a:ext>
            </a:extLst>
          </p:cNvPr>
          <p:cNvSpPr>
            <a:spLocks noGrp="1"/>
          </p:cNvSpPr>
          <p:nvPr>
            <p:ph type="dt" sz="half" idx="10"/>
          </p:nvPr>
        </p:nvSpPr>
        <p:spPr/>
        <p:txBody>
          <a:bodyPr/>
          <a:lstStyle/>
          <a:p>
            <a:fld id="{36FA43D4-B60C-4006-9A0B-ABB2FD1B0C66}" type="datetimeFigureOut">
              <a:rPr lang="en-AU" smtClean="0"/>
              <a:t>22/02/2026</a:t>
            </a:fld>
            <a:endParaRPr lang="en-AU"/>
          </a:p>
        </p:txBody>
      </p:sp>
      <p:sp>
        <p:nvSpPr>
          <p:cNvPr id="8" name="Footer Placeholder 7">
            <a:extLst>
              <a:ext uri="{FF2B5EF4-FFF2-40B4-BE49-F238E27FC236}">
                <a16:creationId xmlns:a16="http://schemas.microsoft.com/office/drawing/2014/main" id="{229428E8-7EF4-A4E7-2BAC-4F5C6CE246D2}"/>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972CDC5C-8BCB-3C04-95BB-60DF41BF3415}"/>
              </a:ext>
            </a:extLst>
          </p:cNvPr>
          <p:cNvSpPr>
            <a:spLocks noGrp="1"/>
          </p:cNvSpPr>
          <p:nvPr>
            <p:ph type="sldNum" sz="quarter" idx="12"/>
          </p:nvPr>
        </p:nvSpPr>
        <p:spPr/>
        <p:txBody>
          <a:bodyPr/>
          <a:lstStyle/>
          <a:p>
            <a:fld id="{40850ABD-EBB7-44F2-A449-951C8F3D5DA3}" type="slidenum">
              <a:rPr lang="en-AU" smtClean="0"/>
              <a:t>‹#›</a:t>
            </a:fld>
            <a:endParaRPr lang="en-AU"/>
          </a:p>
        </p:txBody>
      </p:sp>
    </p:spTree>
    <p:extLst>
      <p:ext uri="{BB962C8B-B14F-4D97-AF65-F5344CB8AC3E}">
        <p14:creationId xmlns:p14="http://schemas.microsoft.com/office/powerpoint/2010/main" val="1162520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CA9A2-0C7F-FDEB-C3C1-858BE63BEF05}"/>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A41FAF8C-90FD-DFC9-CDAB-2A16355D392D}"/>
              </a:ext>
            </a:extLst>
          </p:cNvPr>
          <p:cNvSpPr>
            <a:spLocks noGrp="1"/>
          </p:cNvSpPr>
          <p:nvPr>
            <p:ph type="dt" sz="half" idx="10"/>
          </p:nvPr>
        </p:nvSpPr>
        <p:spPr/>
        <p:txBody>
          <a:bodyPr/>
          <a:lstStyle/>
          <a:p>
            <a:fld id="{36FA43D4-B60C-4006-9A0B-ABB2FD1B0C66}" type="datetimeFigureOut">
              <a:rPr lang="en-AU" smtClean="0"/>
              <a:t>22/02/2026</a:t>
            </a:fld>
            <a:endParaRPr lang="en-AU"/>
          </a:p>
        </p:txBody>
      </p:sp>
      <p:sp>
        <p:nvSpPr>
          <p:cNvPr id="4" name="Footer Placeholder 3">
            <a:extLst>
              <a:ext uri="{FF2B5EF4-FFF2-40B4-BE49-F238E27FC236}">
                <a16:creationId xmlns:a16="http://schemas.microsoft.com/office/drawing/2014/main" id="{1F90CBFC-81D9-2583-4EB6-691A13C5D483}"/>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0BA16D1C-0B88-74E9-CA2B-3C7D5B468561}"/>
              </a:ext>
            </a:extLst>
          </p:cNvPr>
          <p:cNvSpPr>
            <a:spLocks noGrp="1"/>
          </p:cNvSpPr>
          <p:nvPr>
            <p:ph type="sldNum" sz="quarter" idx="12"/>
          </p:nvPr>
        </p:nvSpPr>
        <p:spPr/>
        <p:txBody>
          <a:bodyPr/>
          <a:lstStyle/>
          <a:p>
            <a:fld id="{40850ABD-EBB7-44F2-A449-951C8F3D5DA3}" type="slidenum">
              <a:rPr lang="en-AU" smtClean="0"/>
              <a:t>‹#›</a:t>
            </a:fld>
            <a:endParaRPr lang="en-AU"/>
          </a:p>
        </p:txBody>
      </p:sp>
    </p:spTree>
    <p:extLst>
      <p:ext uri="{BB962C8B-B14F-4D97-AF65-F5344CB8AC3E}">
        <p14:creationId xmlns:p14="http://schemas.microsoft.com/office/powerpoint/2010/main" val="3278324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6DE320-B74D-8F70-CE58-F974FC009171}"/>
              </a:ext>
            </a:extLst>
          </p:cNvPr>
          <p:cNvSpPr>
            <a:spLocks noGrp="1"/>
          </p:cNvSpPr>
          <p:nvPr>
            <p:ph type="dt" sz="half" idx="10"/>
          </p:nvPr>
        </p:nvSpPr>
        <p:spPr/>
        <p:txBody>
          <a:bodyPr/>
          <a:lstStyle/>
          <a:p>
            <a:fld id="{36FA43D4-B60C-4006-9A0B-ABB2FD1B0C66}" type="datetimeFigureOut">
              <a:rPr lang="en-AU" smtClean="0"/>
              <a:t>22/02/2026</a:t>
            </a:fld>
            <a:endParaRPr lang="en-AU"/>
          </a:p>
        </p:txBody>
      </p:sp>
      <p:sp>
        <p:nvSpPr>
          <p:cNvPr id="3" name="Footer Placeholder 2">
            <a:extLst>
              <a:ext uri="{FF2B5EF4-FFF2-40B4-BE49-F238E27FC236}">
                <a16:creationId xmlns:a16="http://schemas.microsoft.com/office/drawing/2014/main" id="{8BCEBAB4-8420-4CF4-54B8-89689DD1AC84}"/>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D8268CD0-1D3E-B9C8-4A06-6B7D6B30F27D}"/>
              </a:ext>
            </a:extLst>
          </p:cNvPr>
          <p:cNvSpPr>
            <a:spLocks noGrp="1"/>
          </p:cNvSpPr>
          <p:nvPr>
            <p:ph type="sldNum" sz="quarter" idx="12"/>
          </p:nvPr>
        </p:nvSpPr>
        <p:spPr/>
        <p:txBody>
          <a:bodyPr/>
          <a:lstStyle/>
          <a:p>
            <a:fld id="{40850ABD-EBB7-44F2-A449-951C8F3D5DA3}" type="slidenum">
              <a:rPr lang="en-AU" smtClean="0"/>
              <a:t>‹#›</a:t>
            </a:fld>
            <a:endParaRPr lang="en-AU"/>
          </a:p>
        </p:txBody>
      </p:sp>
    </p:spTree>
    <p:extLst>
      <p:ext uri="{BB962C8B-B14F-4D97-AF65-F5344CB8AC3E}">
        <p14:creationId xmlns:p14="http://schemas.microsoft.com/office/powerpoint/2010/main" val="1766572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14C8A-5E1B-1990-C881-903616676A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EC350418-19C1-1190-DD54-2B7B7A0178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F549DA77-517D-B77A-9406-C34FE8BFC1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AA3AAA-849B-3AA5-8ACB-1AF7B27CF616}"/>
              </a:ext>
            </a:extLst>
          </p:cNvPr>
          <p:cNvSpPr>
            <a:spLocks noGrp="1"/>
          </p:cNvSpPr>
          <p:nvPr>
            <p:ph type="dt" sz="half" idx="10"/>
          </p:nvPr>
        </p:nvSpPr>
        <p:spPr/>
        <p:txBody>
          <a:bodyPr/>
          <a:lstStyle/>
          <a:p>
            <a:fld id="{36FA43D4-B60C-4006-9A0B-ABB2FD1B0C66}" type="datetimeFigureOut">
              <a:rPr lang="en-AU" smtClean="0"/>
              <a:t>22/02/2026</a:t>
            </a:fld>
            <a:endParaRPr lang="en-AU"/>
          </a:p>
        </p:txBody>
      </p:sp>
      <p:sp>
        <p:nvSpPr>
          <p:cNvPr id="6" name="Footer Placeholder 5">
            <a:extLst>
              <a:ext uri="{FF2B5EF4-FFF2-40B4-BE49-F238E27FC236}">
                <a16:creationId xmlns:a16="http://schemas.microsoft.com/office/drawing/2014/main" id="{7512763F-C66F-E95A-BC2B-D76B1B2D8B1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7573D05-BF31-6060-1DEE-18F204E5255F}"/>
              </a:ext>
            </a:extLst>
          </p:cNvPr>
          <p:cNvSpPr>
            <a:spLocks noGrp="1"/>
          </p:cNvSpPr>
          <p:nvPr>
            <p:ph type="sldNum" sz="quarter" idx="12"/>
          </p:nvPr>
        </p:nvSpPr>
        <p:spPr/>
        <p:txBody>
          <a:bodyPr/>
          <a:lstStyle/>
          <a:p>
            <a:fld id="{40850ABD-EBB7-44F2-A449-951C8F3D5DA3}" type="slidenum">
              <a:rPr lang="en-AU" smtClean="0"/>
              <a:t>‹#›</a:t>
            </a:fld>
            <a:endParaRPr lang="en-AU"/>
          </a:p>
        </p:txBody>
      </p:sp>
    </p:spTree>
    <p:extLst>
      <p:ext uri="{BB962C8B-B14F-4D97-AF65-F5344CB8AC3E}">
        <p14:creationId xmlns:p14="http://schemas.microsoft.com/office/powerpoint/2010/main" val="5399982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F8AB0-0CF4-97F1-6D65-7108AC3680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E45290D7-E006-103E-BCE4-DAD4E55FCD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6F1F2C14-1DF1-9CC7-4C9A-4238D8FC4C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113269-B0AF-9D93-00DB-3A3894784208}"/>
              </a:ext>
            </a:extLst>
          </p:cNvPr>
          <p:cNvSpPr>
            <a:spLocks noGrp="1"/>
          </p:cNvSpPr>
          <p:nvPr>
            <p:ph type="dt" sz="half" idx="10"/>
          </p:nvPr>
        </p:nvSpPr>
        <p:spPr/>
        <p:txBody>
          <a:bodyPr/>
          <a:lstStyle/>
          <a:p>
            <a:fld id="{36FA43D4-B60C-4006-9A0B-ABB2FD1B0C66}" type="datetimeFigureOut">
              <a:rPr lang="en-AU" smtClean="0"/>
              <a:t>22/02/2026</a:t>
            </a:fld>
            <a:endParaRPr lang="en-AU"/>
          </a:p>
        </p:txBody>
      </p:sp>
      <p:sp>
        <p:nvSpPr>
          <p:cNvPr id="6" name="Footer Placeholder 5">
            <a:extLst>
              <a:ext uri="{FF2B5EF4-FFF2-40B4-BE49-F238E27FC236}">
                <a16:creationId xmlns:a16="http://schemas.microsoft.com/office/drawing/2014/main" id="{AB3A677E-03CB-C3A6-C3C2-8A2B0C92880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9B3CBC7-4C6B-7A35-87F1-0A6454275C94}"/>
              </a:ext>
            </a:extLst>
          </p:cNvPr>
          <p:cNvSpPr>
            <a:spLocks noGrp="1"/>
          </p:cNvSpPr>
          <p:nvPr>
            <p:ph type="sldNum" sz="quarter" idx="12"/>
          </p:nvPr>
        </p:nvSpPr>
        <p:spPr/>
        <p:txBody>
          <a:bodyPr/>
          <a:lstStyle/>
          <a:p>
            <a:fld id="{40850ABD-EBB7-44F2-A449-951C8F3D5DA3}" type="slidenum">
              <a:rPr lang="en-AU" smtClean="0"/>
              <a:t>‹#›</a:t>
            </a:fld>
            <a:endParaRPr lang="en-AU"/>
          </a:p>
        </p:txBody>
      </p:sp>
    </p:spTree>
    <p:extLst>
      <p:ext uri="{BB962C8B-B14F-4D97-AF65-F5344CB8AC3E}">
        <p14:creationId xmlns:p14="http://schemas.microsoft.com/office/powerpoint/2010/main" val="3612788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68D7F-487B-C93E-7EC1-4282DBF9AAF5}"/>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05C0366-1D6E-DE23-D4B9-5A4B4FA4A5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54E7345-BA28-B593-1EE9-78D4AA2E398C}"/>
              </a:ext>
            </a:extLst>
          </p:cNvPr>
          <p:cNvSpPr>
            <a:spLocks noGrp="1"/>
          </p:cNvSpPr>
          <p:nvPr>
            <p:ph type="dt" sz="half" idx="10"/>
          </p:nvPr>
        </p:nvSpPr>
        <p:spPr/>
        <p:txBody>
          <a:bodyPr/>
          <a:lstStyle/>
          <a:p>
            <a:fld id="{36FA43D4-B60C-4006-9A0B-ABB2FD1B0C66}" type="datetimeFigureOut">
              <a:rPr lang="en-AU" smtClean="0"/>
              <a:t>22/02/2026</a:t>
            </a:fld>
            <a:endParaRPr lang="en-AU"/>
          </a:p>
        </p:txBody>
      </p:sp>
      <p:sp>
        <p:nvSpPr>
          <p:cNvPr id="5" name="Footer Placeholder 4">
            <a:extLst>
              <a:ext uri="{FF2B5EF4-FFF2-40B4-BE49-F238E27FC236}">
                <a16:creationId xmlns:a16="http://schemas.microsoft.com/office/drawing/2014/main" id="{291DA139-C108-4E5D-2622-E816C00BFCD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B0BB4B8-16B2-D11B-D5FD-6941898348A1}"/>
              </a:ext>
            </a:extLst>
          </p:cNvPr>
          <p:cNvSpPr>
            <a:spLocks noGrp="1"/>
          </p:cNvSpPr>
          <p:nvPr>
            <p:ph type="sldNum" sz="quarter" idx="12"/>
          </p:nvPr>
        </p:nvSpPr>
        <p:spPr/>
        <p:txBody>
          <a:bodyPr/>
          <a:lstStyle/>
          <a:p>
            <a:fld id="{40850ABD-EBB7-44F2-A449-951C8F3D5DA3}" type="slidenum">
              <a:rPr lang="en-AU" smtClean="0"/>
              <a:t>‹#›</a:t>
            </a:fld>
            <a:endParaRPr lang="en-AU"/>
          </a:p>
        </p:txBody>
      </p:sp>
    </p:spTree>
    <p:extLst>
      <p:ext uri="{BB962C8B-B14F-4D97-AF65-F5344CB8AC3E}">
        <p14:creationId xmlns:p14="http://schemas.microsoft.com/office/powerpoint/2010/main" val="4964937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7772A0-55A6-54EC-214B-E6C86F68B19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BD94092-841D-EDCF-FE33-EA30062FFBD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CED71C76-D0C2-8534-88B4-DB4B80ECA8ED}"/>
              </a:ext>
            </a:extLst>
          </p:cNvPr>
          <p:cNvSpPr>
            <a:spLocks noGrp="1"/>
          </p:cNvSpPr>
          <p:nvPr>
            <p:ph type="dt" sz="half" idx="10"/>
          </p:nvPr>
        </p:nvSpPr>
        <p:spPr/>
        <p:txBody>
          <a:bodyPr/>
          <a:lstStyle/>
          <a:p>
            <a:fld id="{36FA43D4-B60C-4006-9A0B-ABB2FD1B0C66}" type="datetimeFigureOut">
              <a:rPr lang="en-AU" smtClean="0"/>
              <a:t>22/02/2026</a:t>
            </a:fld>
            <a:endParaRPr lang="en-AU"/>
          </a:p>
        </p:txBody>
      </p:sp>
      <p:sp>
        <p:nvSpPr>
          <p:cNvPr id="5" name="Footer Placeholder 4">
            <a:extLst>
              <a:ext uri="{FF2B5EF4-FFF2-40B4-BE49-F238E27FC236}">
                <a16:creationId xmlns:a16="http://schemas.microsoft.com/office/drawing/2014/main" id="{696E4478-A00B-79F0-7345-6E8EBDDB1C2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46DFBAC-5290-39A7-C448-7C1D41BF56FF}"/>
              </a:ext>
            </a:extLst>
          </p:cNvPr>
          <p:cNvSpPr>
            <a:spLocks noGrp="1"/>
          </p:cNvSpPr>
          <p:nvPr>
            <p:ph type="sldNum" sz="quarter" idx="12"/>
          </p:nvPr>
        </p:nvSpPr>
        <p:spPr/>
        <p:txBody>
          <a:bodyPr/>
          <a:lstStyle/>
          <a:p>
            <a:fld id="{40850ABD-EBB7-44F2-A449-951C8F3D5DA3}" type="slidenum">
              <a:rPr lang="en-AU" smtClean="0"/>
              <a:t>‹#›</a:t>
            </a:fld>
            <a:endParaRPr lang="en-AU"/>
          </a:p>
        </p:txBody>
      </p:sp>
    </p:spTree>
    <p:extLst>
      <p:ext uri="{BB962C8B-B14F-4D97-AF65-F5344CB8AC3E}">
        <p14:creationId xmlns:p14="http://schemas.microsoft.com/office/powerpoint/2010/main" val="2989577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DE16DD-DB22-DE09-FCE9-DB425CFB3B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8FB50CF-C8E4-2DF1-7357-15E2927EF1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361F759-35BD-69AC-F44A-576DE71B9F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FA43D4-B60C-4006-9A0B-ABB2FD1B0C66}" type="datetimeFigureOut">
              <a:rPr lang="en-AU" smtClean="0"/>
              <a:t>22/02/2026</a:t>
            </a:fld>
            <a:endParaRPr lang="en-AU"/>
          </a:p>
        </p:txBody>
      </p:sp>
      <p:sp>
        <p:nvSpPr>
          <p:cNvPr id="5" name="Footer Placeholder 4">
            <a:extLst>
              <a:ext uri="{FF2B5EF4-FFF2-40B4-BE49-F238E27FC236}">
                <a16:creationId xmlns:a16="http://schemas.microsoft.com/office/drawing/2014/main" id="{53825083-D2D9-081F-DF1C-AB7795EF09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710150D5-B982-3D1E-1D61-55440279E0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850ABD-EBB7-44F2-A449-951C8F3D5DA3}" type="slidenum">
              <a:rPr lang="en-AU" smtClean="0"/>
              <a:t>‹#›</a:t>
            </a:fld>
            <a:endParaRPr lang="en-AU"/>
          </a:p>
        </p:txBody>
      </p:sp>
    </p:spTree>
    <p:extLst>
      <p:ext uri="{BB962C8B-B14F-4D97-AF65-F5344CB8AC3E}">
        <p14:creationId xmlns:p14="http://schemas.microsoft.com/office/powerpoint/2010/main" val="1983568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a:xfrm>
            <a:off x="1314824" y="735106"/>
            <a:ext cx="10053763" cy="2928470"/>
          </a:xfrm>
        </p:spPr>
        <p:txBody>
          <a:bodyPr anchor="b">
            <a:normAutofit/>
          </a:bodyPr>
          <a:lstStyle/>
          <a:p>
            <a:pPr algn="l"/>
            <a:r>
              <a:rPr lang="en-US" sz="4800" dirty="0">
                <a:solidFill>
                  <a:srgbClr val="FFFFFF"/>
                </a:solidFill>
              </a:rPr>
              <a:t>Data Presentation</a:t>
            </a:r>
            <a:endParaRPr lang="nb-NO" sz="4800" dirty="0">
              <a:solidFill>
                <a:srgbClr val="FFFFFF"/>
              </a:solidFill>
            </a:endParaRPr>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a:xfrm>
            <a:off x="1350682" y="4870824"/>
            <a:ext cx="10005951" cy="1458258"/>
          </a:xfrm>
        </p:spPr>
        <p:txBody>
          <a:bodyPr anchor="ctr">
            <a:normAutofit/>
          </a:bodyPr>
          <a:lstStyle/>
          <a:p>
            <a:pPr algn="l"/>
            <a:r>
              <a:rPr lang="en-US" dirty="0"/>
              <a:t>Marketing Analytics Project</a:t>
            </a:r>
          </a:p>
          <a:p>
            <a:pPr algn="l"/>
            <a:r>
              <a:rPr lang="en-US" dirty="0"/>
              <a:t>Dhiraj Pakhrin</a:t>
            </a:r>
            <a:endParaRPr lang="nb-NO" dirty="0"/>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D90E99-620E-A27E-D35B-8717C85F2EBE}"/>
              </a:ext>
            </a:extLst>
          </p:cNvPr>
          <p:cNvPicPr>
            <a:picLocks noChangeAspect="1"/>
          </p:cNvPicPr>
          <p:nvPr/>
        </p:nvPicPr>
        <p:blipFill>
          <a:blip r:embed="rId2"/>
          <a:stretch>
            <a:fillRect/>
          </a:stretch>
        </p:blipFill>
        <p:spPr>
          <a:xfrm>
            <a:off x="4030825" y="1102162"/>
            <a:ext cx="7956312" cy="4999153"/>
          </a:xfrm>
          <a:prstGeom prst="rect">
            <a:avLst/>
          </a:prstGeom>
        </p:spPr>
      </p:pic>
      <p:sp>
        <p:nvSpPr>
          <p:cNvPr id="4" name="Title 3">
            <a:extLst>
              <a:ext uri="{FF2B5EF4-FFF2-40B4-BE49-F238E27FC236}">
                <a16:creationId xmlns:a16="http://schemas.microsoft.com/office/drawing/2014/main" id="{E14306C0-546A-60F1-F05E-BED638FBB9EB}"/>
              </a:ext>
            </a:extLst>
          </p:cNvPr>
          <p:cNvSpPr>
            <a:spLocks noGrp="1"/>
          </p:cNvSpPr>
          <p:nvPr>
            <p:ph type="title"/>
          </p:nvPr>
        </p:nvSpPr>
        <p:spPr>
          <a:xfrm>
            <a:off x="542075" y="389796"/>
            <a:ext cx="10515600" cy="1325563"/>
          </a:xfrm>
        </p:spPr>
        <p:txBody>
          <a:bodyPr/>
          <a:lstStyle/>
          <a:p>
            <a:r>
              <a:rPr lang="nb-NO" b="1" dirty="0" err="1"/>
              <a:t>Overview</a:t>
            </a:r>
            <a:endParaRPr lang="nb-NO" b="1" dirty="0"/>
          </a:p>
        </p:txBody>
      </p:sp>
      <p:sp>
        <p:nvSpPr>
          <p:cNvPr id="6" name="Content Placeholder 5">
            <a:extLst>
              <a:ext uri="{FF2B5EF4-FFF2-40B4-BE49-F238E27FC236}">
                <a16:creationId xmlns:a16="http://schemas.microsoft.com/office/drawing/2014/main" id="{63336F16-91A5-5CAF-84F3-64F6D6DE9D0D}"/>
              </a:ext>
            </a:extLst>
          </p:cNvPr>
          <p:cNvSpPr>
            <a:spLocks noGrp="1"/>
          </p:cNvSpPr>
          <p:nvPr>
            <p:ph sz="half" idx="1"/>
          </p:nvPr>
        </p:nvSpPr>
        <p:spPr>
          <a:xfrm>
            <a:off x="542075" y="1749977"/>
            <a:ext cx="3644423" cy="4351338"/>
          </a:xfrm>
        </p:spPr>
        <p:txBody>
          <a:bodyPr>
            <a:normAutofit fontScale="47500" lnSpcReduction="20000"/>
          </a:bodyPr>
          <a:lstStyle/>
          <a:p>
            <a:pPr>
              <a:lnSpc>
                <a:spcPct val="160000"/>
              </a:lnSpc>
            </a:pPr>
            <a:r>
              <a:rPr lang="en-US" sz="2000" b="1" dirty="0"/>
              <a:t>Decreased Conversion Rates: </a:t>
            </a:r>
            <a:r>
              <a:rPr lang="en-US" sz="2000" dirty="0"/>
              <a:t>The conversion rate demonstrated a strong rebound in December, reaching 12.8%, despite a notable dip to 4.5% in October.</a:t>
            </a:r>
          </a:p>
          <a:p>
            <a:pPr>
              <a:lnSpc>
                <a:spcPct val="160000"/>
              </a:lnSpc>
            </a:pPr>
            <a:r>
              <a:rPr lang="en-US" sz="2000" b="1" dirty="0"/>
              <a:t>Reduced Customer Engagement:</a:t>
            </a:r>
          </a:p>
          <a:p>
            <a:pPr lvl="1">
              <a:lnSpc>
                <a:spcPct val="160000"/>
              </a:lnSpc>
            </a:pPr>
            <a:r>
              <a:rPr lang="en-US" sz="2000" dirty="0"/>
              <a:t>There is a decline in overall social media engagement, with views dropping throughout the year.</a:t>
            </a:r>
          </a:p>
          <a:p>
            <a:pPr lvl="1">
              <a:lnSpc>
                <a:spcPct val="160000"/>
              </a:lnSpc>
            </a:pPr>
            <a:r>
              <a:rPr lang="en-US" sz="2000" dirty="0"/>
              <a:t>While clicks and likes are low compared to views, the click-through rate stands at 6.17%, meaning that engaged users are still interacting effectively.</a:t>
            </a:r>
          </a:p>
          <a:p>
            <a:pPr>
              <a:lnSpc>
                <a:spcPct val="160000"/>
              </a:lnSpc>
            </a:pPr>
            <a:r>
              <a:rPr lang="en-US" sz="2000" b="1" dirty="0"/>
              <a:t>Customer Feedback Analysis:</a:t>
            </a:r>
          </a:p>
          <a:p>
            <a:pPr lvl="1">
              <a:lnSpc>
                <a:spcPct val="160000"/>
              </a:lnSpc>
            </a:pPr>
            <a:r>
              <a:rPr lang="en-US" sz="2000" dirty="0"/>
              <a:t>Customer ratings have remained consistent, averaging around 3.6 throughout the year.</a:t>
            </a:r>
          </a:p>
          <a:p>
            <a:pPr lvl="1">
              <a:lnSpc>
                <a:spcPct val="160000"/>
              </a:lnSpc>
            </a:pPr>
            <a:r>
              <a:rPr lang="en-US" sz="2000" dirty="0"/>
              <a:t>Although stable, the average rating is below the target of 4.0, suggesting a need for focused improvements in customer satisfaction, for products below 3.5.</a:t>
            </a:r>
            <a:endParaRPr lang="nb-NO" sz="2000" dirty="0"/>
          </a:p>
        </p:txBody>
      </p:sp>
      <p:cxnSp>
        <p:nvCxnSpPr>
          <p:cNvPr id="11" name="Straight Arrow Connector 10">
            <a:extLst>
              <a:ext uri="{FF2B5EF4-FFF2-40B4-BE49-F238E27FC236}">
                <a16:creationId xmlns:a16="http://schemas.microsoft.com/office/drawing/2014/main" id="{EB0B3192-656E-0734-EE42-F4DBBB67D9E3}"/>
              </a:ext>
            </a:extLst>
          </p:cNvPr>
          <p:cNvCxnSpPr>
            <a:cxnSpLocks/>
          </p:cNvCxnSpPr>
          <p:nvPr/>
        </p:nvCxnSpPr>
        <p:spPr>
          <a:xfrm>
            <a:off x="10097196" y="3256261"/>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DB459B85-8FF8-3F68-F083-4F22D9FF99A0}"/>
              </a:ext>
            </a:extLst>
          </p:cNvPr>
          <p:cNvSpPr/>
          <p:nvPr/>
        </p:nvSpPr>
        <p:spPr>
          <a:xfrm>
            <a:off x="7585788" y="1334279"/>
            <a:ext cx="877077" cy="100770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51508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44079E-DB4B-EF73-A7B1-5927CF443DA4}"/>
              </a:ext>
            </a:extLst>
          </p:cNvPr>
          <p:cNvPicPr>
            <a:picLocks noChangeAspect="1"/>
          </p:cNvPicPr>
          <p:nvPr/>
        </p:nvPicPr>
        <p:blipFill>
          <a:blip r:embed="rId2"/>
          <a:stretch>
            <a:fillRect/>
          </a:stretch>
        </p:blipFill>
        <p:spPr>
          <a:xfrm>
            <a:off x="6233727" y="2031817"/>
            <a:ext cx="5854465" cy="3982322"/>
          </a:xfrm>
          <a:prstGeom prst="rect">
            <a:avLst/>
          </a:prstGeom>
        </p:spPr>
      </p:pic>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p:txBody>
          <a:bodyPr/>
          <a:lstStyle/>
          <a:p>
            <a:r>
              <a:rPr lang="nb-NO" dirty="0" err="1"/>
              <a:t>Decreased</a:t>
            </a:r>
            <a:r>
              <a:rPr lang="nb-NO" dirty="0"/>
              <a:t> Conversion Rates</a:t>
            </a:r>
          </a:p>
        </p:txBody>
      </p:sp>
      <p:graphicFrame>
        <p:nvGraphicFramePr>
          <p:cNvPr id="14" name="Content Placeholder 2">
            <a:extLst>
              <a:ext uri="{FF2B5EF4-FFF2-40B4-BE49-F238E27FC236}">
                <a16:creationId xmlns:a16="http://schemas.microsoft.com/office/drawing/2014/main" id="{24B16D1A-84C5-2EAA-E2F1-ADFC4E73606B}"/>
              </a:ext>
            </a:extLst>
          </p:cNvPr>
          <p:cNvGraphicFramePr>
            <a:graphicFrameLocks noGrp="1"/>
          </p:cNvGraphicFramePr>
          <p:nvPr>
            <p:ph sz="half" idx="1"/>
            <p:extLst>
              <p:ext uri="{D42A27DB-BD31-4B8C-83A1-F6EECF244321}">
                <p14:modId xmlns:p14="http://schemas.microsoft.com/office/powerpoint/2010/main" val="3221618163"/>
              </p:ext>
            </p:extLst>
          </p:nvPr>
        </p:nvGraphicFramePr>
        <p:xfrm>
          <a:off x="838200" y="1868993"/>
          <a:ext cx="5331488" cy="43079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Rectangle 6">
            <a:extLst>
              <a:ext uri="{FF2B5EF4-FFF2-40B4-BE49-F238E27FC236}">
                <a16:creationId xmlns:a16="http://schemas.microsoft.com/office/drawing/2014/main" id="{9AE336E2-BFE9-301A-AFA2-2180EEC07102}"/>
              </a:ext>
            </a:extLst>
          </p:cNvPr>
          <p:cNvSpPr/>
          <p:nvPr/>
        </p:nvSpPr>
        <p:spPr>
          <a:xfrm>
            <a:off x="9160960" y="2468213"/>
            <a:ext cx="398762" cy="32160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ctangle 7">
            <a:extLst>
              <a:ext uri="{FF2B5EF4-FFF2-40B4-BE49-F238E27FC236}">
                <a16:creationId xmlns:a16="http://schemas.microsoft.com/office/drawing/2014/main" id="{2F76FB0A-6CB5-47EB-50C2-6A2B95E1B209}"/>
              </a:ext>
            </a:extLst>
          </p:cNvPr>
          <p:cNvSpPr/>
          <p:nvPr/>
        </p:nvSpPr>
        <p:spPr>
          <a:xfrm>
            <a:off x="9861140" y="2468212"/>
            <a:ext cx="398762" cy="3216071"/>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6656A85B-16D1-B1A6-F273-3198B85B00AD}"/>
              </a:ext>
            </a:extLst>
          </p:cNvPr>
          <p:cNvPicPr>
            <a:picLocks noChangeAspect="1"/>
          </p:cNvPicPr>
          <p:nvPr/>
        </p:nvPicPr>
        <p:blipFill>
          <a:blip r:embed="rId2"/>
          <a:stretch>
            <a:fillRect/>
          </a:stretch>
        </p:blipFill>
        <p:spPr>
          <a:xfrm>
            <a:off x="6740384" y="4137423"/>
            <a:ext cx="3748506" cy="2248877"/>
          </a:xfrm>
          <a:prstGeom prst="rect">
            <a:avLst/>
          </a:prstGeom>
        </p:spPr>
      </p:pic>
      <p:pic>
        <p:nvPicPr>
          <p:cNvPr id="10" name="Picture 9">
            <a:extLst>
              <a:ext uri="{FF2B5EF4-FFF2-40B4-BE49-F238E27FC236}">
                <a16:creationId xmlns:a16="http://schemas.microsoft.com/office/drawing/2014/main" id="{96967BE2-148C-8B66-ACD2-2A81E2F0627F}"/>
              </a:ext>
            </a:extLst>
          </p:cNvPr>
          <p:cNvPicPr>
            <a:picLocks noChangeAspect="1"/>
          </p:cNvPicPr>
          <p:nvPr/>
        </p:nvPicPr>
        <p:blipFill>
          <a:blip r:embed="rId3"/>
          <a:stretch>
            <a:fillRect/>
          </a:stretch>
        </p:blipFill>
        <p:spPr>
          <a:xfrm>
            <a:off x="6740385" y="1813851"/>
            <a:ext cx="3748506" cy="2136508"/>
          </a:xfrm>
          <a:prstGeom prst="rect">
            <a:avLst/>
          </a:prstGeom>
        </p:spPr>
      </p:pic>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p:txBody>
          <a:bodyPr/>
          <a:lstStyle/>
          <a:p>
            <a:r>
              <a:rPr lang="en-US" dirty="0"/>
              <a:t>Reduced Customer Engagement</a:t>
            </a:r>
            <a:endParaRPr lang="nb-NO" dirty="0"/>
          </a:p>
        </p:txBody>
      </p:sp>
      <p:sp>
        <p:nvSpPr>
          <p:cNvPr id="3" name="Content Placeholder 2">
            <a:extLst>
              <a:ext uri="{FF2B5EF4-FFF2-40B4-BE49-F238E27FC236}">
                <a16:creationId xmlns:a16="http://schemas.microsoft.com/office/drawing/2014/main" id="{864EEEC7-BFE3-E8A1-062C-F7A682CE01AD}"/>
              </a:ext>
            </a:extLst>
          </p:cNvPr>
          <p:cNvSpPr>
            <a:spLocks noGrp="1"/>
          </p:cNvSpPr>
          <p:nvPr>
            <p:ph sz="half" idx="1"/>
          </p:nvPr>
        </p:nvSpPr>
        <p:spPr/>
        <p:txBody>
          <a:bodyPr>
            <a:normAutofit fontScale="55000" lnSpcReduction="20000"/>
          </a:bodyPr>
          <a:lstStyle/>
          <a:p>
            <a:pPr>
              <a:lnSpc>
                <a:spcPct val="170000"/>
              </a:lnSpc>
            </a:pPr>
            <a:r>
              <a:rPr lang="en-US" b="1" dirty="0"/>
              <a:t>Declining Views:</a:t>
            </a:r>
          </a:p>
          <a:p>
            <a:pPr lvl="1">
              <a:lnSpc>
                <a:spcPct val="170000"/>
              </a:lnSpc>
            </a:pPr>
            <a:r>
              <a:rPr lang="en-US" dirty="0"/>
              <a:t>Views declined from the beginning, indicating reduced audience engagement in the later half of the year.</a:t>
            </a:r>
          </a:p>
          <a:p>
            <a:pPr>
              <a:lnSpc>
                <a:spcPct val="170000"/>
              </a:lnSpc>
            </a:pPr>
            <a:r>
              <a:rPr lang="en-US" b="1" dirty="0"/>
              <a:t>Low Interaction Rates:</a:t>
            </a:r>
          </a:p>
          <a:p>
            <a:pPr lvl="1">
              <a:lnSpc>
                <a:spcPct val="170000"/>
              </a:lnSpc>
            </a:pPr>
            <a:r>
              <a:rPr lang="en-US" dirty="0"/>
              <a:t>Clicks and likes remained consistently low compared to views, suggesting the need for more engaging content or stronger calls to action.</a:t>
            </a:r>
          </a:p>
          <a:p>
            <a:pPr>
              <a:lnSpc>
                <a:spcPct val="170000"/>
              </a:lnSpc>
            </a:pPr>
            <a:r>
              <a:rPr lang="en-US" b="1" dirty="0"/>
              <a:t>Content Type Performance:</a:t>
            </a:r>
          </a:p>
          <a:p>
            <a:pPr lvl="1">
              <a:lnSpc>
                <a:spcPct val="170000"/>
              </a:lnSpc>
            </a:pPr>
            <a:r>
              <a:rPr lang="en-US" dirty="0"/>
              <a:t>Blog content drove the most views, especially in January. However, all </a:t>
            </a:r>
            <a:r>
              <a:rPr lang="en-GB" dirty="0"/>
              <a:t>content types decreased steadily over the course of </a:t>
            </a:r>
            <a:r>
              <a:rPr lang="en-US" dirty="0"/>
              <a:t>a year.</a:t>
            </a:r>
            <a:endParaRPr lang="nb-NO" dirty="0"/>
          </a:p>
        </p:txBody>
      </p:sp>
      <p:cxnSp>
        <p:nvCxnSpPr>
          <p:cNvPr id="9" name="Straight Arrow Connector 8">
            <a:extLst>
              <a:ext uri="{FF2B5EF4-FFF2-40B4-BE49-F238E27FC236}">
                <a16:creationId xmlns:a16="http://schemas.microsoft.com/office/drawing/2014/main" id="{1F4F75BE-DDC1-8FDE-9EA6-5BAC6391EC05}"/>
              </a:ext>
            </a:extLst>
          </p:cNvPr>
          <p:cNvCxnSpPr>
            <a:cxnSpLocks/>
          </p:cNvCxnSpPr>
          <p:nvPr/>
        </p:nvCxnSpPr>
        <p:spPr>
          <a:xfrm>
            <a:off x="8370797" y="2709365"/>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3308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p:txBody>
          <a:bodyPr/>
          <a:lstStyle/>
          <a:p>
            <a:r>
              <a:rPr lang="nb-NO" dirty="0" err="1"/>
              <a:t>Customer</a:t>
            </a:r>
            <a:r>
              <a:rPr lang="nb-NO" dirty="0"/>
              <a:t>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p:txBody>
          <a:bodyPr>
            <a:normAutofit fontScale="40000" lnSpcReduction="20000"/>
          </a:bodyPr>
          <a:lstStyle/>
          <a:p>
            <a:pPr>
              <a:lnSpc>
                <a:spcPct val="170000"/>
              </a:lnSpc>
            </a:pPr>
            <a:r>
              <a:rPr lang="en-US" b="1" dirty="0"/>
              <a:t>Customer Ratings Distribution:</a:t>
            </a:r>
          </a:p>
          <a:p>
            <a:pPr lvl="1">
              <a:lnSpc>
                <a:spcPct val="170000"/>
              </a:lnSpc>
            </a:pPr>
            <a:r>
              <a:rPr lang="en-US" dirty="0"/>
              <a:t>The majority of customer reviews are in the higher ratings, with 154 reviews at 4 stars and 138 reviews at 5 stars, indicating overall positive feedback. Lower ratings (1-2 stars) account for a smaller proportion, with 27 reviews at 1 star and 60 reviews at 2 stars.</a:t>
            </a:r>
          </a:p>
          <a:p>
            <a:pPr>
              <a:lnSpc>
                <a:spcPct val="170000"/>
              </a:lnSpc>
            </a:pPr>
            <a:r>
              <a:rPr lang="en-US" b="1" dirty="0"/>
              <a:t>Sentiment Analysis:</a:t>
            </a:r>
          </a:p>
          <a:p>
            <a:pPr lvl="1">
              <a:lnSpc>
                <a:spcPct val="170000"/>
              </a:lnSpc>
            </a:pPr>
            <a:r>
              <a:rPr lang="en-US" dirty="0"/>
              <a:t>Positive sentiment dominates with 292 reviews, reflecting a generally satisfied customer base. Negative sentiment is present in 81 reviews, with a smaller number of mixed and neutral sentiments, suggesting some areas for improvement, but overall strong customer approval.</a:t>
            </a:r>
          </a:p>
          <a:p>
            <a:pPr>
              <a:lnSpc>
                <a:spcPct val="170000"/>
              </a:lnSpc>
            </a:pPr>
            <a:r>
              <a:rPr lang="en-US" b="1" dirty="0"/>
              <a:t>Opportunity for Improvement:</a:t>
            </a:r>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p:txBody>
      </p:sp>
      <p:pic>
        <p:nvPicPr>
          <p:cNvPr id="5" name="Picture 4">
            <a:extLst>
              <a:ext uri="{FF2B5EF4-FFF2-40B4-BE49-F238E27FC236}">
                <a16:creationId xmlns:a16="http://schemas.microsoft.com/office/drawing/2014/main" id="{9A3F73BF-B176-223B-C8A8-BE79B0A62A37}"/>
              </a:ext>
            </a:extLst>
          </p:cNvPr>
          <p:cNvPicPr>
            <a:picLocks noChangeAspect="1"/>
          </p:cNvPicPr>
          <p:nvPr/>
        </p:nvPicPr>
        <p:blipFill>
          <a:blip r:embed="rId2"/>
          <a:stretch>
            <a:fillRect/>
          </a:stretch>
        </p:blipFill>
        <p:spPr>
          <a:xfrm>
            <a:off x="7298925" y="1825625"/>
            <a:ext cx="2302275" cy="2087781"/>
          </a:xfrm>
          <a:prstGeom prst="rect">
            <a:avLst/>
          </a:prstGeom>
        </p:spPr>
      </p:pic>
      <p:pic>
        <p:nvPicPr>
          <p:cNvPr id="9" name="Picture 8">
            <a:extLst>
              <a:ext uri="{FF2B5EF4-FFF2-40B4-BE49-F238E27FC236}">
                <a16:creationId xmlns:a16="http://schemas.microsoft.com/office/drawing/2014/main" id="{BEFA47DC-187E-BE6A-6992-146B821F51CF}"/>
              </a:ext>
            </a:extLst>
          </p:cNvPr>
          <p:cNvPicPr>
            <a:picLocks noChangeAspect="1"/>
          </p:cNvPicPr>
          <p:nvPr/>
        </p:nvPicPr>
        <p:blipFill>
          <a:blip r:embed="rId3"/>
          <a:stretch>
            <a:fillRect/>
          </a:stretch>
        </p:blipFill>
        <p:spPr>
          <a:xfrm>
            <a:off x="7178040" y="4251960"/>
            <a:ext cx="2423161" cy="2362200"/>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p:txBody>
          <a:bodyPr/>
          <a:lstStyle/>
          <a:p>
            <a:r>
              <a:rPr lang="nb-NO" dirty="0"/>
              <a:t>Recommendation</a:t>
            </a:r>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quarter" idx="4"/>
          </p:nvPr>
        </p:nvSpPr>
        <p:spPr>
          <a:xfrm>
            <a:off x="839788" y="1580843"/>
            <a:ext cx="10518776" cy="4211984"/>
          </a:xfrm>
        </p:spPr>
        <p:txBody>
          <a:bodyPr>
            <a:noAutofit/>
          </a:bodyPr>
          <a:lstStyle/>
          <a:p>
            <a:pPr>
              <a:lnSpc>
                <a:spcPct val="120000"/>
              </a:lnSpc>
            </a:pPr>
            <a:r>
              <a:rPr lang="nb-NO" sz="1400" b="1" dirty="0" err="1"/>
              <a:t>Increase</a:t>
            </a:r>
            <a:r>
              <a:rPr lang="nb-NO" sz="1400" b="1" dirty="0"/>
              <a:t> Conversion Rates:</a:t>
            </a:r>
          </a:p>
          <a:p>
            <a:pPr lvl="1">
              <a:lnSpc>
                <a:spcPct val="120000"/>
              </a:lnSpc>
            </a:pPr>
            <a:r>
              <a:rPr lang="en-US" sz="1400" u="sng" dirty="0"/>
              <a:t>Target High-Performing Product Categories</a:t>
            </a:r>
            <a:r>
              <a:rPr lang="en-US" sz="1400" dirty="0"/>
              <a:t>: Focus marketing efforts on products with demonstrated high conversion rates, such as Hockey sticks, Ice skate, Surfboard, Baseball Gloves. Implement seasonal promotions or personalized campaigns during peak months (e.g., March and September) to capitalize on these trends.</a:t>
            </a:r>
          </a:p>
          <a:p>
            <a:pPr lvl="1">
              <a:lnSpc>
                <a:spcPct val="120000"/>
              </a:lnSpc>
            </a:pPr>
            <a:endParaRPr lang="nb-NO" sz="1400" dirty="0"/>
          </a:p>
          <a:p>
            <a:pPr>
              <a:lnSpc>
                <a:spcPct val="120000"/>
              </a:lnSpc>
            </a:pPr>
            <a:r>
              <a:rPr lang="nb-NO" sz="1400" b="1" dirty="0" err="1"/>
              <a:t>Enhance</a:t>
            </a:r>
            <a:r>
              <a:rPr lang="nb-NO" sz="1400" b="1" dirty="0"/>
              <a:t> </a:t>
            </a:r>
            <a:r>
              <a:rPr lang="nb-NO" sz="1400" b="1" dirty="0" err="1"/>
              <a:t>Customer</a:t>
            </a:r>
            <a:r>
              <a:rPr lang="nb-NO" sz="1400" b="1" dirty="0"/>
              <a:t> </a:t>
            </a:r>
            <a:r>
              <a:rPr lang="nb-NO" sz="1400" b="1" dirty="0" err="1"/>
              <a:t>Engagement</a:t>
            </a:r>
            <a:r>
              <a:rPr lang="nb-NO" sz="1400" b="1" dirty="0"/>
              <a:t>:</a:t>
            </a:r>
          </a:p>
          <a:p>
            <a:pPr lvl="1">
              <a:lnSpc>
                <a:spcPct val="120000"/>
              </a:lnSpc>
            </a:pPr>
            <a:r>
              <a:rPr lang="en-US" sz="1400" u="sng" dirty="0"/>
              <a:t>Revitalize Content Strategy</a:t>
            </a:r>
            <a:r>
              <a:rPr lang="en-US" sz="1400" dirty="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p>
          <a:p>
            <a:pPr lvl="1">
              <a:lnSpc>
                <a:spcPct val="120000"/>
              </a:lnSpc>
            </a:pPr>
            <a:endParaRPr lang="nb-NO" sz="1400" dirty="0"/>
          </a:p>
          <a:p>
            <a:pPr>
              <a:lnSpc>
                <a:spcPct val="120000"/>
              </a:lnSpc>
            </a:pPr>
            <a:r>
              <a:rPr lang="nb-NO" sz="1400" b="1" dirty="0" err="1"/>
              <a:t>Improve</a:t>
            </a:r>
            <a:r>
              <a:rPr lang="nb-NO" sz="1400" b="1" dirty="0"/>
              <a:t> </a:t>
            </a:r>
            <a:r>
              <a:rPr lang="nb-NO" sz="1400" b="1" dirty="0" err="1"/>
              <a:t>Customer</a:t>
            </a:r>
            <a:r>
              <a:rPr lang="nb-NO" sz="1400" b="1" dirty="0"/>
              <a:t> Feedback Scores:</a:t>
            </a:r>
          </a:p>
          <a:p>
            <a:pPr lvl="1">
              <a:lnSpc>
                <a:spcPct val="120000"/>
              </a:lnSpc>
            </a:pPr>
            <a:r>
              <a:rPr lang="en-US" sz="1400" u="sng" dirty="0"/>
              <a:t>Address Mixed and Negative Feedback: </a:t>
            </a:r>
            <a:r>
              <a:rPr lang="en-US" sz="1400" dirty="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1400" dirty="0"/>
          </a:p>
        </p:txBody>
      </p:sp>
    </p:spTree>
    <p:extLst>
      <p:ext uri="{BB962C8B-B14F-4D97-AF65-F5344CB8AC3E}">
        <p14:creationId xmlns:p14="http://schemas.microsoft.com/office/powerpoint/2010/main" val="758644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681</Words>
  <Application>Microsoft Office PowerPoint</Application>
  <PresentationFormat>Widescreen</PresentationFormat>
  <Paragraphs>41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Data Presentation</vt:lpstr>
      <vt:lpstr>Overview</vt:lpstr>
      <vt:lpstr>Decreased Conversion Rates</vt:lpstr>
      <vt:lpstr>Reduced Customer Engagement</vt:lpstr>
      <vt:lpstr>Customer Feedback Analysis</vt:lpstr>
      <vt:lpstr>Recommendation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Pakhrin, Dhiraj</dc:creator>
  <cp:lastModifiedBy>Pakhrin, Dhiraj</cp:lastModifiedBy>
  <cp:revision>4</cp:revision>
  <dcterms:created xsi:type="dcterms:W3CDTF">2026-02-23T01:47:32Z</dcterms:created>
  <dcterms:modified xsi:type="dcterms:W3CDTF">2026-02-23T01:59:33Z</dcterms:modified>
</cp:coreProperties>
</file>