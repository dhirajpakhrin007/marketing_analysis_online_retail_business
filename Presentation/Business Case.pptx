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1DBEE-61BE-49A6-B086-6901F004ED5E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48148B-EF4E-4198-8EEA-AE5558B267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Conversion Rate: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Percentage of website visitors who make a purchase.</a:t>
          </a:r>
        </a:p>
      </dgm:t>
    </dgm:pt>
    <dgm:pt modelId="{55BA5728-8D43-486D-9A9D-39E4302FDE10}" type="parTrans" cxnId="{DBFAE0A8-0A04-4B31-9B40-AB6E3F04DB57}">
      <dgm:prSet/>
      <dgm:spPr/>
      <dgm:t>
        <a:bodyPr/>
        <a:lstStyle/>
        <a:p>
          <a:endParaRPr lang="en-US"/>
        </a:p>
      </dgm:t>
    </dgm:pt>
    <dgm:pt modelId="{64528D3F-324D-4DCF-8DED-62BE15238BBE}" type="sibTrans" cxnId="{DBFAE0A8-0A04-4B31-9B40-AB6E3F04DB57}">
      <dgm:prSet/>
      <dgm:spPr/>
      <dgm:t>
        <a:bodyPr/>
        <a:lstStyle/>
        <a:p>
          <a:endParaRPr lang="en-US"/>
        </a:p>
      </dgm:t>
    </dgm:pt>
    <dgm:pt modelId="{902E3BFA-A03D-4D77-9450-143E439E76C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Customer Engagement Rate: </a:t>
          </a:r>
        </a:p>
        <a:p>
          <a:pPr>
            <a:lnSpc>
              <a:spcPct val="100000"/>
            </a:lnSpc>
            <a:defRPr cap="all"/>
          </a:pPr>
          <a:r>
            <a:rPr lang="en-US" dirty="0"/>
            <a:t>Level of interaction with marketing content (clicks, likes, comments).</a:t>
          </a:r>
        </a:p>
      </dgm:t>
    </dgm:pt>
    <dgm:pt modelId="{90AE161A-C662-445B-8020-7EEA7366898E}" type="parTrans" cxnId="{D5286F67-1BC5-485C-9A27-080EC193CA85}">
      <dgm:prSet/>
      <dgm:spPr/>
      <dgm:t>
        <a:bodyPr/>
        <a:lstStyle/>
        <a:p>
          <a:endParaRPr lang="en-US"/>
        </a:p>
      </dgm:t>
    </dgm:pt>
    <dgm:pt modelId="{68A54FB8-A0EB-4783-AD98-CE9593710650}" type="sibTrans" cxnId="{D5286F67-1BC5-485C-9A27-080EC193CA85}">
      <dgm:prSet/>
      <dgm:spPr/>
      <dgm:t>
        <a:bodyPr/>
        <a:lstStyle/>
        <a:p>
          <a:endParaRPr lang="en-US"/>
        </a:p>
      </dgm:t>
    </dgm:pt>
    <dgm:pt modelId="{DBA8CCF3-428C-4BBE-A40A-6BA6851CB97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Average Order Value (AOV): </a:t>
          </a:r>
          <a:r>
            <a:rPr lang="en-US" dirty="0"/>
            <a:t>Average amount spent by a customer per transaction.</a:t>
          </a:r>
        </a:p>
      </dgm:t>
    </dgm:pt>
    <dgm:pt modelId="{24654311-63FE-492B-81B0-5059D3ACB31A}" type="parTrans" cxnId="{02F4FF37-9D2B-4E37-A14E-308C38A62C7D}">
      <dgm:prSet/>
      <dgm:spPr/>
      <dgm:t>
        <a:bodyPr/>
        <a:lstStyle/>
        <a:p>
          <a:endParaRPr lang="en-US"/>
        </a:p>
      </dgm:t>
    </dgm:pt>
    <dgm:pt modelId="{86D0F790-F749-41F4-92D3-499D99D5C849}" type="sibTrans" cxnId="{02F4FF37-9D2B-4E37-A14E-308C38A62C7D}">
      <dgm:prSet/>
      <dgm:spPr/>
      <dgm:t>
        <a:bodyPr/>
        <a:lstStyle/>
        <a:p>
          <a:endParaRPr lang="en-US"/>
        </a:p>
      </dgm:t>
    </dgm:pt>
    <dgm:pt modelId="{1DA65700-5AF7-457C-946D-659CBB1C964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Customer Feedback Score: </a:t>
          </a:r>
          <a:r>
            <a:rPr lang="en-US"/>
            <a:t>Average rating from customer reviews.</a:t>
          </a:r>
        </a:p>
      </dgm:t>
    </dgm:pt>
    <dgm:pt modelId="{EEBCDA9F-ACB0-4FEA-99A5-48F3558CD86E}" type="parTrans" cxnId="{F73AB198-2524-458A-BD05-8B152D812BAB}">
      <dgm:prSet/>
      <dgm:spPr/>
      <dgm:t>
        <a:bodyPr/>
        <a:lstStyle/>
        <a:p>
          <a:endParaRPr lang="en-US"/>
        </a:p>
      </dgm:t>
    </dgm:pt>
    <dgm:pt modelId="{323C46B3-92AD-446E-AA6E-2654131358FF}" type="sibTrans" cxnId="{F73AB198-2524-458A-BD05-8B152D812BAB}">
      <dgm:prSet/>
      <dgm:spPr/>
      <dgm:t>
        <a:bodyPr/>
        <a:lstStyle/>
        <a:p>
          <a:endParaRPr lang="en-US"/>
        </a:p>
      </dgm:t>
    </dgm:pt>
    <dgm:pt modelId="{9D1C6D10-DEC6-4117-94E4-4B93F2A2AB50}" type="pres">
      <dgm:prSet presAssocID="{A3A1DBEE-61BE-49A6-B086-6901F004ED5E}" presName="root" presStyleCnt="0">
        <dgm:presLayoutVars>
          <dgm:dir/>
          <dgm:resizeHandles val="exact"/>
        </dgm:presLayoutVars>
      </dgm:prSet>
      <dgm:spPr/>
    </dgm:pt>
    <dgm:pt modelId="{8F970FCA-7C29-4A8F-8D8E-866F35677333}" type="pres">
      <dgm:prSet presAssocID="{1548148B-EF4E-4198-8EEA-AE5558B2672C}" presName="compNode" presStyleCnt="0"/>
      <dgm:spPr/>
    </dgm:pt>
    <dgm:pt modelId="{5136D9B5-5518-4C46-9434-49E8F7EAE87E}" type="pres">
      <dgm:prSet presAssocID="{1548148B-EF4E-4198-8EEA-AE5558B2672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8BD74AA-B032-4236-B49A-087566F4E9DC}" type="pres">
      <dgm:prSet presAssocID="{1548148B-EF4E-4198-8EEA-AE5558B2672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E0371B7-59A1-4863-AA36-6EBDA180A90A}" type="pres">
      <dgm:prSet presAssocID="{1548148B-EF4E-4198-8EEA-AE5558B2672C}" presName="spaceRect" presStyleCnt="0"/>
      <dgm:spPr/>
    </dgm:pt>
    <dgm:pt modelId="{FDE16DDF-D690-497A-9294-850632AE7A2F}" type="pres">
      <dgm:prSet presAssocID="{1548148B-EF4E-4198-8EEA-AE5558B2672C}" presName="textRect" presStyleLbl="revTx" presStyleIdx="0" presStyleCnt="4">
        <dgm:presLayoutVars>
          <dgm:chMax val="1"/>
          <dgm:chPref val="1"/>
        </dgm:presLayoutVars>
      </dgm:prSet>
      <dgm:spPr/>
    </dgm:pt>
    <dgm:pt modelId="{D574DAAE-C1E3-4FB4-B84A-689111CA9055}" type="pres">
      <dgm:prSet presAssocID="{64528D3F-324D-4DCF-8DED-62BE15238BBE}" presName="sibTrans" presStyleCnt="0"/>
      <dgm:spPr/>
    </dgm:pt>
    <dgm:pt modelId="{12DDE45E-9B76-4F0A-9824-32BE591CC4C4}" type="pres">
      <dgm:prSet presAssocID="{902E3BFA-A03D-4D77-9450-143E439E76CD}" presName="compNode" presStyleCnt="0"/>
      <dgm:spPr/>
    </dgm:pt>
    <dgm:pt modelId="{15F39776-E4AD-422C-A571-D2E5BD8E5C62}" type="pres">
      <dgm:prSet presAssocID="{902E3BFA-A03D-4D77-9450-143E439E76C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C3FBCC7-A6DD-4329-82B6-8BD471FDC7B4}" type="pres">
      <dgm:prSet presAssocID="{902E3BFA-A03D-4D77-9450-143E439E76C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45E2FCF0-2DAB-411A-A819-037718A6DBD6}" type="pres">
      <dgm:prSet presAssocID="{902E3BFA-A03D-4D77-9450-143E439E76CD}" presName="spaceRect" presStyleCnt="0"/>
      <dgm:spPr/>
    </dgm:pt>
    <dgm:pt modelId="{275D88C4-838B-4A6F-A648-5DFC04EA8631}" type="pres">
      <dgm:prSet presAssocID="{902E3BFA-A03D-4D77-9450-143E439E76CD}" presName="textRect" presStyleLbl="revTx" presStyleIdx="1" presStyleCnt="4">
        <dgm:presLayoutVars>
          <dgm:chMax val="1"/>
          <dgm:chPref val="1"/>
        </dgm:presLayoutVars>
      </dgm:prSet>
      <dgm:spPr/>
    </dgm:pt>
    <dgm:pt modelId="{8C87CA76-47C6-4783-B30C-C0D404D711A2}" type="pres">
      <dgm:prSet presAssocID="{68A54FB8-A0EB-4783-AD98-CE9593710650}" presName="sibTrans" presStyleCnt="0"/>
      <dgm:spPr/>
    </dgm:pt>
    <dgm:pt modelId="{7B330203-D16D-4EE0-80E9-B9F9B0E401B4}" type="pres">
      <dgm:prSet presAssocID="{DBA8CCF3-428C-4BBE-A40A-6BA6851CB97F}" presName="compNode" presStyleCnt="0"/>
      <dgm:spPr/>
    </dgm:pt>
    <dgm:pt modelId="{2CF7CCDE-0D5C-4A1B-AE98-6A90AF616AF6}" type="pres">
      <dgm:prSet presAssocID="{DBA8CCF3-428C-4BBE-A40A-6BA6851CB97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2F2ECF6-2EE4-46D6-94D8-50A33B07192A}" type="pres">
      <dgm:prSet presAssocID="{DBA8CCF3-428C-4BBE-A40A-6BA6851CB9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389CAE4-A14E-423B-B0D1-2D80C77465B3}" type="pres">
      <dgm:prSet presAssocID="{DBA8CCF3-428C-4BBE-A40A-6BA6851CB97F}" presName="spaceRect" presStyleCnt="0"/>
      <dgm:spPr/>
    </dgm:pt>
    <dgm:pt modelId="{2B114826-8DC3-4A90-A20C-F77B1F59CBAE}" type="pres">
      <dgm:prSet presAssocID="{DBA8CCF3-428C-4BBE-A40A-6BA6851CB97F}" presName="textRect" presStyleLbl="revTx" presStyleIdx="2" presStyleCnt="4">
        <dgm:presLayoutVars>
          <dgm:chMax val="1"/>
          <dgm:chPref val="1"/>
        </dgm:presLayoutVars>
      </dgm:prSet>
      <dgm:spPr/>
    </dgm:pt>
    <dgm:pt modelId="{5EE62893-43EC-4822-8807-E4AF0826E673}" type="pres">
      <dgm:prSet presAssocID="{86D0F790-F749-41F4-92D3-499D99D5C849}" presName="sibTrans" presStyleCnt="0"/>
      <dgm:spPr/>
    </dgm:pt>
    <dgm:pt modelId="{69824B53-F04E-4042-B943-739B56151CA0}" type="pres">
      <dgm:prSet presAssocID="{1DA65700-5AF7-457C-946D-659CBB1C964C}" presName="compNode" presStyleCnt="0"/>
      <dgm:spPr/>
    </dgm:pt>
    <dgm:pt modelId="{C27FE646-EE59-48CF-A3ED-1D0C1E07A386}" type="pres">
      <dgm:prSet presAssocID="{1DA65700-5AF7-457C-946D-659CBB1C964C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8C57F72-7B38-4523-883F-E7D68549B5F7}" type="pres">
      <dgm:prSet presAssocID="{1DA65700-5AF7-457C-946D-659CBB1C964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FAC1B82E-F9D9-4445-A833-DF1E67D0EDD2}" type="pres">
      <dgm:prSet presAssocID="{1DA65700-5AF7-457C-946D-659CBB1C964C}" presName="spaceRect" presStyleCnt="0"/>
      <dgm:spPr/>
    </dgm:pt>
    <dgm:pt modelId="{809D2788-1A04-431B-A9EA-8AA9C7B7FDB4}" type="pres">
      <dgm:prSet presAssocID="{1DA65700-5AF7-457C-946D-659CBB1C964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77CCC0D-D323-486F-AF9B-FDEF6214F1E7}" type="presOf" srcId="{1DA65700-5AF7-457C-946D-659CBB1C964C}" destId="{809D2788-1A04-431B-A9EA-8AA9C7B7FDB4}" srcOrd="0" destOrd="0" presId="urn:microsoft.com/office/officeart/2018/5/layout/IconLeafLabelList"/>
    <dgm:cxn modelId="{02F4FF37-9D2B-4E37-A14E-308C38A62C7D}" srcId="{A3A1DBEE-61BE-49A6-B086-6901F004ED5E}" destId="{DBA8CCF3-428C-4BBE-A40A-6BA6851CB97F}" srcOrd="2" destOrd="0" parTransId="{24654311-63FE-492B-81B0-5059D3ACB31A}" sibTransId="{86D0F790-F749-41F4-92D3-499D99D5C849}"/>
    <dgm:cxn modelId="{5CBA8941-1E10-4877-9749-96F137EF5D33}" type="presOf" srcId="{A3A1DBEE-61BE-49A6-B086-6901F004ED5E}" destId="{9D1C6D10-DEC6-4117-94E4-4B93F2A2AB50}" srcOrd="0" destOrd="0" presId="urn:microsoft.com/office/officeart/2018/5/layout/IconLeafLabelList"/>
    <dgm:cxn modelId="{BD05A464-872F-4B62-AED7-E58A2D07171B}" type="presOf" srcId="{DBA8CCF3-428C-4BBE-A40A-6BA6851CB97F}" destId="{2B114826-8DC3-4A90-A20C-F77B1F59CBAE}" srcOrd="0" destOrd="0" presId="urn:microsoft.com/office/officeart/2018/5/layout/IconLeafLabelList"/>
    <dgm:cxn modelId="{D5286F67-1BC5-485C-9A27-080EC193CA85}" srcId="{A3A1DBEE-61BE-49A6-B086-6901F004ED5E}" destId="{902E3BFA-A03D-4D77-9450-143E439E76CD}" srcOrd="1" destOrd="0" parTransId="{90AE161A-C662-445B-8020-7EEA7366898E}" sibTransId="{68A54FB8-A0EB-4783-AD98-CE9593710650}"/>
    <dgm:cxn modelId="{E4CF997F-F80A-45A1-8118-8364EB160213}" type="presOf" srcId="{902E3BFA-A03D-4D77-9450-143E439E76CD}" destId="{275D88C4-838B-4A6F-A648-5DFC04EA8631}" srcOrd="0" destOrd="0" presId="urn:microsoft.com/office/officeart/2018/5/layout/IconLeafLabelList"/>
    <dgm:cxn modelId="{F73AB198-2524-458A-BD05-8B152D812BAB}" srcId="{A3A1DBEE-61BE-49A6-B086-6901F004ED5E}" destId="{1DA65700-5AF7-457C-946D-659CBB1C964C}" srcOrd="3" destOrd="0" parTransId="{EEBCDA9F-ACB0-4FEA-99A5-48F3558CD86E}" sibTransId="{323C46B3-92AD-446E-AA6E-2654131358FF}"/>
    <dgm:cxn modelId="{DBFAE0A8-0A04-4B31-9B40-AB6E3F04DB57}" srcId="{A3A1DBEE-61BE-49A6-B086-6901F004ED5E}" destId="{1548148B-EF4E-4198-8EEA-AE5558B2672C}" srcOrd="0" destOrd="0" parTransId="{55BA5728-8D43-486D-9A9D-39E4302FDE10}" sibTransId="{64528D3F-324D-4DCF-8DED-62BE15238BBE}"/>
    <dgm:cxn modelId="{70583EF4-7541-4BF6-A022-EDEFA39DA418}" type="presOf" srcId="{1548148B-EF4E-4198-8EEA-AE5558B2672C}" destId="{FDE16DDF-D690-497A-9294-850632AE7A2F}" srcOrd="0" destOrd="0" presId="urn:microsoft.com/office/officeart/2018/5/layout/IconLeafLabelList"/>
    <dgm:cxn modelId="{0E8A9B40-5A30-4EFD-BA25-C84C7A2D01BF}" type="presParOf" srcId="{9D1C6D10-DEC6-4117-94E4-4B93F2A2AB50}" destId="{8F970FCA-7C29-4A8F-8D8E-866F35677333}" srcOrd="0" destOrd="0" presId="urn:microsoft.com/office/officeart/2018/5/layout/IconLeafLabelList"/>
    <dgm:cxn modelId="{48AA7C74-9795-455A-AB6C-B251DE9AF3D3}" type="presParOf" srcId="{8F970FCA-7C29-4A8F-8D8E-866F35677333}" destId="{5136D9B5-5518-4C46-9434-49E8F7EAE87E}" srcOrd="0" destOrd="0" presId="urn:microsoft.com/office/officeart/2018/5/layout/IconLeafLabelList"/>
    <dgm:cxn modelId="{9CF64A64-706F-45ED-B027-665D4E140232}" type="presParOf" srcId="{8F970FCA-7C29-4A8F-8D8E-866F35677333}" destId="{A8BD74AA-B032-4236-B49A-087566F4E9DC}" srcOrd="1" destOrd="0" presId="urn:microsoft.com/office/officeart/2018/5/layout/IconLeafLabelList"/>
    <dgm:cxn modelId="{38867ADE-CFF4-4C80-BA51-9F99AAC508F6}" type="presParOf" srcId="{8F970FCA-7C29-4A8F-8D8E-866F35677333}" destId="{0E0371B7-59A1-4863-AA36-6EBDA180A90A}" srcOrd="2" destOrd="0" presId="urn:microsoft.com/office/officeart/2018/5/layout/IconLeafLabelList"/>
    <dgm:cxn modelId="{58E764FC-BFA4-4C61-80E3-7B66D31C6A05}" type="presParOf" srcId="{8F970FCA-7C29-4A8F-8D8E-866F35677333}" destId="{FDE16DDF-D690-497A-9294-850632AE7A2F}" srcOrd="3" destOrd="0" presId="urn:microsoft.com/office/officeart/2018/5/layout/IconLeafLabelList"/>
    <dgm:cxn modelId="{FC47DA75-26D9-4760-A927-3464AC31015E}" type="presParOf" srcId="{9D1C6D10-DEC6-4117-94E4-4B93F2A2AB50}" destId="{D574DAAE-C1E3-4FB4-B84A-689111CA9055}" srcOrd="1" destOrd="0" presId="urn:microsoft.com/office/officeart/2018/5/layout/IconLeafLabelList"/>
    <dgm:cxn modelId="{2F5CCE26-AD51-4C98-AF57-624EB27735EF}" type="presParOf" srcId="{9D1C6D10-DEC6-4117-94E4-4B93F2A2AB50}" destId="{12DDE45E-9B76-4F0A-9824-32BE591CC4C4}" srcOrd="2" destOrd="0" presId="urn:microsoft.com/office/officeart/2018/5/layout/IconLeafLabelList"/>
    <dgm:cxn modelId="{81A67AD7-8745-4F30-8893-3FDD413E9798}" type="presParOf" srcId="{12DDE45E-9B76-4F0A-9824-32BE591CC4C4}" destId="{15F39776-E4AD-422C-A571-D2E5BD8E5C62}" srcOrd="0" destOrd="0" presId="urn:microsoft.com/office/officeart/2018/5/layout/IconLeafLabelList"/>
    <dgm:cxn modelId="{59F99403-198E-4DA3-AAF1-ECE11AA3322E}" type="presParOf" srcId="{12DDE45E-9B76-4F0A-9824-32BE591CC4C4}" destId="{9C3FBCC7-A6DD-4329-82B6-8BD471FDC7B4}" srcOrd="1" destOrd="0" presId="urn:microsoft.com/office/officeart/2018/5/layout/IconLeafLabelList"/>
    <dgm:cxn modelId="{261E554D-AE1B-43F9-8E45-18226FCC4F9B}" type="presParOf" srcId="{12DDE45E-9B76-4F0A-9824-32BE591CC4C4}" destId="{45E2FCF0-2DAB-411A-A819-037718A6DBD6}" srcOrd="2" destOrd="0" presId="urn:microsoft.com/office/officeart/2018/5/layout/IconLeafLabelList"/>
    <dgm:cxn modelId="{B6715E23-C0D5-4CF3-8A5D-E942A1391B95}" type="presParOf" srcId="{12DDE45E-9B76-4F0A-9824-32BE591CC4C4}" destId="{275D88C4-838B-4A6F-A648-5DFC04EA8631}" srcOrd="3" destOrd="0" presId="urn:microsoft.com/office/officeart/2018/5/layout/IconLeafLabelList"/>
    <dgm:cxn modelId="{4F005CBE-0346-4373-AD9B-C266BCEE1E33}" type="presParOf" srcId="{9D1C6D10-DEC6-4117-94E4-4B93F2A2AB50}" destId="{8C87CA76-47C6-4783-B30C-C0D404D711A2}" srcOrd="3" destOrd="0" presId="urn:microsoft.com/office/officeart/2018/5/layout/IconLeafLabelList"/>
    <dgm:cxn modelId="{6A8665C6-C1AC-4E21-BB18-CD8E2490EF90}" type="presParOf" srcId="{9D1C6D10-DEC6-4117-94E4-4B93F2A2AB50}" destId="{7B330203-D16D-4EE0-80E9-B9F9B0E401B4}" srcOrd="4" destOrd="0" presId="urn:microsoft.com/office/officeart/2018/5/layout/IconLeafLabelList"/>
    <dgm:cxn modelId="{FA9B9028-E113-48E6-B679-A6C5F7715E1C}" type="presParOf" srcId="{7B330203-D16D-4EE0-80E9-B9F9B0E401B4}" destId="{2CF7CCDE-0D5C-4A1B-AE98-6A90AF616AF6}" srcOrd="0" destOrd="0" presId="urn:microsoft.com/office/officeart/2018/5/layout/IconLeafLabelList"/>
    <dgm:cxn modelId="{D560200E-C441-4D8D-AC68-92A4FFCA4158}" type="presParOf" srcId="{7B330203-D16D-4EE0-80E9-B9F9B0E401B4}" destId="{32F2ECF6-2EE4-46D6-94D8-50A33B07192A}" srcOrd="1" destOrd="0" presId="urn:microsoft.com/office/officeart/2018/5/layout/IconLeafLabelList"/>
    <dgm:cxn modelId="{F3ECCF8F-0A4A-464F-9A40-B6CB22C9C4E3}" type="presParOf" srcId="{7B330203-D16D-4EE0-80E9-B9F9B0E401B4}" destId="{0389CAE4-A14E-423B-B0D1-2D80C77465B3}" srcOrd="2" destOrd="0" presId="urn:microsoft.com/office/officeart/2018/5/layout/IconLeafLabelList"/>
    <dgm:cxn modelId="{562ECA62-36B2-42D7-ACF7-2D64FAFA1DD5}" type="presParOf" srcId="{7B330203-D16D-4EE0-80E9-B9F9B0E401B4}" destId="{2B114826-8DC3-4A90-A20C-F77B1F59CBAE}" srcOrd="3" destOrd="0" presId="urn:microsoft.com/office/officeart/2018/5/layout/IconLeafLabelList"/>
    <dgm:cxn modelId="{53C583FF-833C-4336-96BE-6AF15D971145}" type="presParOf" srcId="{9D1C6D10-DEC6-4117-94E4-4B93F2A2AB50}" destId="{5EE62893-43EC-4822-8807-E4AF0826E673}" srcOrd="5" destOrd="0" presId="urn:microsoft.com/office/officeart/2018/5/layout/IconLeafLabelList"/>
    <dgm:cxn modelId="{C927CF91-B5DD-4A54-8189-D5A3C24AAAAF}" type="presParOf" srcId="{9D1C6D10-DEC6-4117-94E4-4B93F2A2AB50}" destId="{69824B53-F04E-4042-B943-739B56151CA0}" srcOrd="6" destOrd="0" presId="urn:microsoft.com/office/officeart/2018/5/layout/IconLeafLabelList"/>
    <dgm:cxn modelId="{8C1C7F97-4779-401C-BDB4-C5EC7990B23A}" type="presParOf" srcId="{69824B53-F04E-4042-B943-739B56151CA0}" destId="{C27FE646-EE59-48CF-A3ED-1D0C1E07A386}" srcOrd="0" destOrd="0" presId="urn:microsoft.com/office/officeart/2018/5/layout/IconLeafLabelList"/>
    <dgm:cxn modelId="{085060E6-53E5-4DA8-B41D-0327DAA2558C}" type="presParOf" srcId="{69824B53-F04E-4042-B943-739B56151CA0}" destId="{68C57F72-7B38-4523-883F-E7D68549B5F7}" srcOrd="1" destOrd="0" presId="urn:microsoft.com/office/officeart/2018/5/layout/IconLeafLabelList"/>
    <dgm:cxn modelId="{E2F43805-7170-4F55-948C-60F7DD639FED}" type="presParOf" srcId="{69824B53-F04E-4042-B943-739B56151CA0}" destId="{FAC1B82E-F9D9-4445-A833-DF1E67D0EDD2}" srcOrd="2" destOrd="0" presId="urn:microsoft.com/office/officeart/2018/5/layout/IconLeafLabelList"/>
    <dgm:cxn modelId="{E3FA2697-BBB7-4820-BF4A-D3EE180B867E}" type="presParOf" srcId="{69824B53-F04E-4042-B943-739B56151CA0}" destId="{809D2788-1A04-431B-A9EA-8AA9C7B7FDB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6D9B5-5518-4C46-9434-49E8F7EAE87E}">
      <dsp:nvSpPr>
        <dsp:cNvPr id="0" name=""/>
        <dsp:cNvSpPr/>
      </dsp:nvSpPr>
      <dsp:spPr>
        <a:xfrm>
          <a:off x="973190" y="88846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D74AA-B032-4236-B49A-087566F4E9DC}">
      <dsp:nvSpPr>
        <dsp:cNvPr id="0" name=""/>
        <dsp:cNvSpPr/>
      </dsp:nvSpPr>
      <dsp:spPr>
        <a:xfrm>
          <a:off x="1242597" y="1157869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16DDF-D690-497A-9294-850632AE7A2F}">
      <dsp:nvSpPr>
        <dsp:cNvPr id="0" name=""/>
        <dsp:cNvSpPr/>
      </dsp:nvSpPr>
      <dsp:spPr>
        <a:xfrm>
          <a:off x="569079" y="2546352"/>
          <a:ext cx="2072362" cy="91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Conversion Rate: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Percentage of website visitors who make a purchase.</a:t>
          </a:r>
        </a:p>
      </dsp:txBody>
      <dsp:txXfrm>
        <a:off x="569079" y="2546352"/>
        <a:ext cx="2072362" cy="916523"/>
      </dsp:txXfrm>
    </dsp:sp>
    <dsp:sp modelId="{15F39776-E4AD-422C-A571-D2E5BD8E5C62}">
      <dsp:nvSpPr>
        <dsp:cNvPr id="0" name=""/>
        <dsp:cNvSpPr/>
      </dsp:nvSpPr>
      <dsp:spPr>
        <a:xfrm>
          <a:off x="3408216" y="88846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3FBCC7-A6DD-4329-82B6-8BD471FDC7B4}">
      <dsp:nvSpPr>
        <dsp:cNvPr id="0" name=""/>
        <dsp:cNvSpPr/>
      </dsp:nvSpPr>
      <dsp:spPr>
        <a:xfrm>
          <a:off x="3677623" y="1157869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5D88C4-838B-4A6F-A648-5DFC04EA8631}">
      <dsp:nvSpPr>
        <dsp:cNvPr id="0" name=""/>
        <dsp:cNvSpPr/>
      </dsp:nvSpPr>
      <dsp:spPr>
        <a:xfrm>
          <a:off x="3004105" y="2546352"/>
          <a:ext cx="2072362" cy="91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Customer Engagement Rate: 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Level of interaction with marketing content (clicks, likes, comments).</a:t>
          </a:r>
        </a:p>
      </dsp:txBody>
      <dsp:txXfrm>
        <a:off x="3004105" y="2546352"/>
        <a:ext cx="2072362" cy="916523"/>
      </dsp:txXfrm>
    </dsp:sp>
    <dsp:sp modelId="{2CF7CCDE-0D5C-4A1B-AE98-6A90AF616AF6}">
      <dsp:nvSpPr>
        <dsp:cNvPr id="0" name=""/>
        <dsp:cNvSpPr/>
      </dsp:nvSpPr>
      <dsp:spPr>
        <a:xfrm>
          <a:off x="5843242" y="88846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2ECF6-2EE4-46D6-94D8-50A33B07192A}">
      <dsp:nvSpPr>
        <dsp:cNvPr id="0" name=""/>
        <dsp:cNvSpPr/>
      </dsp:nvSpPr>
      <dsp:spPr>
        <a:xfrm>
          <a:off x="6112649" y="1157869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14826-8DC3-4A90-A20C-F77B1F59CBAE}">
      <dsp:nvSpPr>
        <dsp:cNvPr id="0" name=""/>
        <dsp:cNvSpPr/>
      </dsp:nvSpPr>
      <dsp:spPr>
        <a:xfrm>
          <a:off x="5439131" y="2546352"/>
          <a:ext cx="2072362" cy="91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Average Order Value (AOV): </a:t>
          </a:r>
          <a:r>
            <a:rPr lang="en-US" sz="1100" kern="1200" dirty="0"/>
            <a:t>Average amount spent by a customer per transaction.</a:t>
          </a:r>
        </a:p>
      </dsp:txBody>
      <dsp:txXfrm>
        <a:off x="5439131" y="2546352"/>
        <a:ext cx="2072362" cy="916523"/>
      </dsp:txXfrm>
    </dsp:sp>
    <dsp:sp modelId="{C27FE646-EE59-48CF-A3ED-1D0C1E07A386}">
      <dsp:nvSpPr>
        <dsp:cNvPr id="0" name=""/>
        <dsp:cNvSpPr/>
      </dsp:nvSpPr>
      <dsp:spPr>
        <a:xfrm>
          <a:off x="8278268" y="88846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57F72-7B38-4523-883F-E7D68549B5F7}">
      <dsp:nvSpPr>
        <dsp:cNvPr id="0" name=""/>
        <dsp:cNvSpPr/>
      </dsp:nvSpPr>
      <dsp:spPr>
        <a:xfrm>
          <a:off x="8547675" y="1157869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D2788-1A04-431B-A9EA-8AA9C7B7FDB4}">
      <dsp:nvSpPr>
        <dsp:cNvPr id="0" name=""/>
        <dsp:cNvSpPr/>
      </dsp:nvSpPr>
      <dsp:spPr>
        <a:xfrm>
          <a:off x="7874157" y="2546352"/>
          <a:ext cx="2072362" cy="916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Customer Feedback Score: </a:t>
          </a:r>
          <a:r>
            <a:rPr lang="en-US" sz="1100" kern="1200"/>
            <a:t>Average rating from customer reviews.</a:t>
          </a:r>
        </a:p>
      </dsp:txBody>
      <dsp:txXfrm>
        <a:off x="7874157" y="2546352"/>
        <a:ext cx="2072362" cy="9165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5A0F-CBC4-0B19-58AE-EAB1B71EC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A4599-00A5-79B6-4C76-5836242E6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09588-5720-8F0E-40AD-461902FE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7FF7C-81F8-7EEC-0E3C-D70D8092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F196D-91DD-3A93-A7DE-249708F8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35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6277-6F37-52E6-324E-7BE723B61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F375-8BB8-7C77-5E25-463E76DF1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37A5A-EEA1-FE62-BEE8-D3C1C0D5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9CF32-D0F9-1ACF-829C-9B8A2AE6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893F4-A00E-E316-08DA-8BD4ED0F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723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C3C7-3A0C-B26D-14AE-4EB5491C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DF137-D231-4F78-CD0E-33BB75555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1C7EE-D796-EB74-4F32-C30E87E9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D0FCE-1AFE-D963-3637-48FFCE04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51B51-B31B-95BA-1DAB-DE6531C6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005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8F29-8B36-5D46-1EFD-D7B32D867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8B61-CC1D-A4EE-1018-AF42A4643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DCA62-80F8-D84B-0CB1-D3C0E12C6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C29BD-3998-62BA-DBE6-1325DBCF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2A49E-32CF-E0F5-4A12-018B5E23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32DEC-518C-D0AE-78B1-F764A099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75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F331-4C55-6D3B-D276-3B87D33B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0EA12-A7DC-190E-513F-1FF9A6325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19B1F-6ADD-0E14-E2C0-F7C4DAD09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6FDDB7-FCC9-BA64-569A-E9D18E28D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706DD-E0BA-27FE-9804-5530A27BF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C6D27-8012-3BA9-C2F9-9BFD5AC8A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FFA90-1196-7255-CABB-F90FEC87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FC701-CB7F-9C78-9D77-073566AC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258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4ECC-DDF6-BA76-3F20-81B8ABC6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4AA91-80DA-9F37-9D62-38912EF82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280D3-6A3F-565C-F7AC-58AA96CB5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9994C-A99F-DE44-3476-551B0171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84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088AAE-D1DA-5607-AC5C-3CA9E7AD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D8DA0-8EFB-42F9-2358-CE8D7B833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52D20-31D9-E2A7-B321-6A80A26F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607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922F-B458-6415-AD95-E134B92D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167E6-E9F0-C5A6-C7F3-F7FA064DC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D5524-9B3B-F786-E056-99CC4C29F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3DB25-CCF1-8C9F-EA3C-3AA14404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5B9F2-D972-E309-6228-FA10C107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CA607-F183-655E-2D6A-CC8C80B2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329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1024-6D65-D7B5-CDF7-1B198E97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92AF-D461-A48F-2AB7-5630C2DC1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35723-2C59-6B4C-A01C-04229B73C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71060-AEAA-1C08-9E0D-3932A2C9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344B9-DBE1-06C6-AC7D-51301F21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B1135-3A22-1692-6AC4-6A9EFFFE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586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75BEF-ACFF-3F8B-3B8A-58FA17381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4DB9A-291A-6DB6-F976-64749C08C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FA6F9-D08A-48A3-1926-140F6B6F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040E8-FBED-83F5-47D1-B36215A8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EC465-E323-9C2D-3018-51145C13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08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CB47E-53FB-7B3C-9376-6A0CAC2A5B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DA75B-A18F-135E-BDBD-C780B6B86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C0C92-D201-CE33-7EB6-C5AB1A12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A0022-0C19-F2D7-B6B3-2F8E05F4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21F81-DC96-63A4-C856-10E7A3946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16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3099B1-FF0D-1A4E-763B-2D0412AD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3386D-D634-14FC-C3E3-803601D79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6AE97-7AA9-FF00-CFC1-873FFC43A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99092-FE63-414D-9CD2-F024701DAE82}" type="datetimeFigureOut">
              <a:rPr lang="en-AU" smtClean="0"/>
              <a:t>22/02/2026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01B8B-BCE6-86B3-B767-0DFBA896F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7931-7516-6DDB-4484-41AD09FC2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92B387-C11B-4633-8D33-F8C69278CA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320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12AB-E95B-87C7-D657-4C4B5C09E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75806-6056-8406-6887-D9EAC8D18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AD0BBF88-932B-8F7D-7CBA-44A27DDCF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B003362-4F79-A923-8FC6-D9656B589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7DB9F94-3E39-2AD1-0AD5-1FB2361FB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2C07351-7839-9188-0F3C-878AAC49E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A3C9F7-8167-26D9-0EA8-10752C81A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A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C97FBFD-E898-D927-1073-C1B78BC5B97F}"/>
              </a:ext>
            </a:extLst>
          </p:cNvPr>
          <p:cNvSpPr txBox="1">
            <a:spLocks/>
          </p:cNvSpPr>
          <p:nvPr/>
        </p:nvSpPr>
        <p:spPr>
          <a:xfrm>
            <a:off x="1524000" y="643468"/>
            <a:ext cx="9144000" cy="36188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/>
              <a:t>Marketing Analytics Business Case</a:t>
            </a:r>
            <a:endParaRPr lang="nb-NO" sz="7200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0BB9E6B-8210-E2BA-17A2-4CC5429BA788}"/>
              </a:ext>
            </a:extLst>
          </p:cNvPr>
          <p:cNvSpPr txBox="1">
            <a:spLocks/>
          </p:cNvSpPr>
          <p:nvPr/>
        </p:nvSpPr>
        <p:spPr>
          <a:xfrm>
            <a:off x="2719546" y="4552335"/>
            <a:ext cx="6752908" cy="1091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/>
              <a:t>Dhiraj Pakhrin</a:t>
            </a:r>
          </a:p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596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Business Problem</a:t>
            </a:r>
            <a:endParaRPr lang="nb-NO" sz="4000" b="1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ShopEasy, an online retail business, is facing reduced customer engagement and conversion rates despite launching several new online marketing campaigns. They want to conduct a detailed analysis and identify areas for improvement in their marketing strategies.</a:t>
            </a:r>
          </a:p>
          <a:p>
            <a:r>
              <a:rPr lang="en-US" sz="1700" b="1"/>
              <a:t>Key Points:</a:t>
            </a:r>
            <a:endParaRPr lang="en-US" sz="1700"/>
          </a:p>
          <a:p>
            <a:pPr lvl="1"/>
            <a:r>
              <a:rPr lang="en-US" sz="1700" b="1"/>
              <a:t>Reduced Customer Engagement:</a:t>
            </a:r>
            <a:r>
              <a:rPr lang="en-US" sz="1700"/>
              <a:t> The number of customer interactions and engagement with the site and marketing content has declined.</a:t>
            </a:r>
          </a:p>
          <a:p>
            <a:pPr lvl="1"/>
            <a:r>
              <a:rPr lang="en-US" sz="1700" b="1"/>
              <a:t>Decreased Conversion Rates:</a:t>
            </a:r>
            <a:r>
              <a:rPr lang="en-US" sz="1700"/>
              <a:t> Fewer site visitors are converting into paying customers.</a:t>
            </a:r>
          </a:p>
          <a:p>
            <a:pPr lvl="1"/>
            <a:r>
              <a:rPr lang="en-US" sz="1700" b="1"/>
              <a:t>High Marketing Expenses:</a:t>
            </a:r>
            <a:r>
              <a:rPr lang="en-US" sz="1700"/>
              <a:t> Significant investments in marketing campaigns are not yielding expected returns.</a:t>
            </a:r>
          </a:p>
          <a:p>
            <a:pPr lvl="1"/>
            <a:r>
              <a:rPr lang="en-US" sz="1700" b="1"/>
              <a:t>Need for Customer Feedback Analysis:</a:t>
            </a:r>
            <a:r>
              <a:rPr lang="en-US" sz="1700"/>
              <a:t> Understanding customer opinions about products and services is crucial for improving engagement and conversions.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6EEE9E-DA69-ADF6-121C-085B868DF3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37240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ulticolored arrows pointing to different directions">
            <a:extLst>
              <a:ext uri="{FF2B5EF4-FFF2-40B4-BE49-F238E27FC236}">
                <a16:creationId xmlns:a16="http://schemas.microsoft.com/office/drawing/2014/main" id="{C5608530-29DA-2C90-EDEE-878D8F15C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3" r="40679" b="-1"/>
          <a:stretch>
            <a:fillRect/>
          </a:stretch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1066800"/>
            <a:ext cx="1826779" cy="70568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29" y="1779023"/>
            <a:ext cx="5243219" cy="417650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 b="1" dirty="0"/>
              <a:t>Increase Conversion Rates: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Goal: </a:t>
            </a:r>
            <a:r>
              <a:rPr lang="en-US" sz="1400" dirty="0"/>
              <a:t>Identify factors impacting the conversion rate and provide recommendations to improve it.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Insight: </a:t>
            </a:r>
            <a:r>
              <a:rPr lang="en-US" sz="1400" dirty="0"/>
              <a:t>Highlight key stages where visitors drop off and suggest improvements to optimize the conversion funnel.</a:t>
            </a:r>
          </a:p>
          <a:p>
            <a:pPr>
              <a:lnSpc>
                <a:spcPct val="90000"/>
              </a:lnSpc>
            </a:pPr>
            <a:r>
              <a:rPr lang="en-US" sz="1400" b="1" dirty="0"/>
              <a:t>Enhance Customer Engagement:</a:t>
            </a:r>
            <a:endParaRPr lang="en-US" sz="1400" dirty="0"/>
          </a:p>
          <a:p>
            <a:pPr lvl="1">
              <a:lnSpc>
                <a:spcPct val="90000"/>
              </a:lnSpc>
            </a:pPr>
            <a:r>
              <a:rPr lang="en-US" sz="1400" b="1" dirty="0"/>
              <a:t>Goal:</a:t>
            </a:r>
            <a:r>
              <a:rPr lang="en-US" sz="1400" dirty="0"/>
              <a:t> Determine which types of content drive the highest engagement. 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Insight:</a:t>
            </a:r>
            <a:r>
              <a:rPr lang="en-US" sz="1400" dirty="0"/>
              <a:t> Analyze interaction levels with different types of marketing content to inform better content strategies.</a:t>
            </a:r>
          </a:p>
          <a:p>
            <a:pPr>
              <a:lnSpc>
                <a:spcPct val="90000"/>
              </a:lnSpc>
            </a:pPr>
            <a:r>
              <a:rPr lang="en-US" sz="1400" b="1" dirty="0"/>
              <a:t>Improve Customer Feedback Scores:</a:t>
            </a:r>
            <a:endParaRPr lang="en-US" sz="1400" dirty="0"/>
          </a:p>
          <a:p>
            <a:pPr lvl="1">
              <a:lnSpc>
                <a:spcPct val="90000"/>
              </a:lnSpc>
            </a:pPr>
            <a:r>
              <a:rPr lang="en-US" sz="1400" b="1" dirty="0"/>
              <a:t>Goal:</a:t>
            </a:r>
            <a:r>
              <a:rPr lang="en-US" sz="1400" dirty="0"/>
              <a:t> Understand common themes in customer reviews and provide actionable insights.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Insight:</a:t>
            </a:r>
            <a:r>
              <a:rPr lang="en-US" sz="1400" dirty="0"/>
              <a:t> Identify recurring positive and negative feedback to guide product and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284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Business Problem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Pakhrin, Dhiraj</dc:creator>
  <cp:lastModifiedBy>Pakhrin, Dhiraj</cp:lastModifiedBy>
  <cp:revision>1</cp:revision>
  <dcterms:created xsi:type="dcterms:W3CDTF">2026-02-23T01:45:56Z</dcterms:created>
  <dcterms:modified xsi:type="dcterms:W3CDTF">2026-02-23T01:47:17Z</dcterms:modified>
</cp:coreProperties>
</file>